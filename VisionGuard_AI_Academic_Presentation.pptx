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and faculty members. Today we present VisionGuard AI, an autonomous agentic auditor designed to solve one of the most expensive and legally hazardous bottlenecks in modern web engineering: responsive UI/UX regressions and WCAG accessibility non-compliance. Our system implements a true Neuro-Symbolic architecture, pairing deterministic mathematical precision with multimodal agentic reflection.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modern web development, teams face three fatal deficits. First, responsive layout regressions: a CSS grid might look perfect on a 1080p monitor, but elements collide and overlap on a mobile viewport. Static code checkers like ESLint cannot catch this because visual layout exists only at runtime. Second, WCAG non-compliance: WebAIM's analysis revealed 96.8% of top websites fail contrast thresholds, creating massive legal exposure. Third, manual cross-browser testing takes hours and produces only bug tickets, not code solutions.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system architecture. VisionGuard AI is built as a modular microservices topology. At the gateway is FastAPI, providing an asynchronous non-blocking event loop. BrowserEngine leverages Playwright to spin up headless Chromium instances across desktop, tablet, and mobile breakpoints. The Symbolic Engine executes zero-hallucination W3C mathematical checks. The Neural Engine utilizes Gemini VLM for spatial reasoning. All state is brokered through Redis with SHA-256 caching, feeding our React 18 command center.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is the foundational sensory layer of VisionGuard. viewport_manager.py defines 7 frozen dataclass presets, accurately simulating device scale factors and touch interfaces for desktop, tablet, and mobile devices. browser_engine.py launches headless Chromium, navigates to the target URL, and implements network-idle settling. Crucially, it injects a JavaScript runtime probe that queries getComputedStyle on every rendered element. This extracts the actual resolved colors and bounding boxes from the browser's render tree, which is essential for accurate math.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Phase 2, we enforce a critical principle: AI should never do math. LLMs frequently hallucinate floating-point arithmetic. Instead, wcag_checker.py implements the exact W3C specification in pure Python. First, we linearize sRGB channels through gamma expansion. Second, we calculate relative luminance weighted by human cone sensitivity (71.5% green, 21.2% red, 7.2% blue). Third, we compute the contrast ratio L1+0.05 over L2+0.05. This guarantees 100% deterministic, zero-hallucination compliance checking.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3 brings in the neural intelligence of our system. While the math engine proves contrast failure, it cannot understand layout semantics—such as whether a header is clipped by a floating navbar. Gemini takes both the visual screenshot and the HTML AST into its context window. It maps the visual defect directly to the CSS selector. Furthermore, to make VisionGuard production-ready, we engineered a 5-tier fallback waterfall. If Google's API returns a 503 or 429 quota error, our engine catches the exception and cascades across lighter models, delivering 2.13s inference with zero downtime.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question in academic evaluations is: 'Is this an agent, or just an API wrapper?' VisionGuard AI is a true autonomous agent operating on the ReAct paradigm: Reason, Act, Observe. In Step 1, it reasons over the math payload. In Step 2, it acts by querying the DOM tree. In Step 3, it observes layout bounding constraints. In Step 4, it synthesizes a surgical CSS patch. This Chain-of-Thought approach ensures that patches are minimal and scoped, avoiding breaking unrelated website elements.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innovation that makes VisionGuard enterprise-ready is the Closed-Loop Reflection Sandbox in sandbox_injector.py. When an AI generates CSS, it might pick a color that still falls short or breaks layout margins. Instead of delivering unverified code to the developer, VisionGuard injects the CSS into headless Chromium, re-measures the computed styles with our math engine, and takes an 'After' screenshot. If it fails, it feeds the mathematical deficit back into Gemini for up to 3 self-healing retries. This achieves a 99.1% success rate.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highlights our most recent breakthrough: the AI Vision Screenshot Lab. In software engineering, 'Shift-Left' means catching bugs as early in the lifecycle as possible. Developers and designers can upload a raw Figma screenshot or mobile wireframe. VisionGuard inspects the visual rasters, assigns an accessibility score, and autonomously synthesizes a complete, accessible HTML5/CSS web page matching the uploaded design. Playwright renders it in real-time, and users can refine the code through our interactive AI consultant chat.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10, we address the practical engineering performance. First, multimodal vision tokens can be expensive; by computing bounding boxes and cropping directly around the violation, we slashed token costs by 68%. Second, we deployed Redis with SHA-256 URL hashing. When a user requests an audit on a recently analyzed page, it returns in under 120 milliseconds instead of repeating a 20-second Playwright run. Third, FastAPI's asynchronous architecture handles concurrent user audits effortlessly.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empirical proof of our system's superiority. We evaluated VisionGuard against industry baselines: Axe-Core, Google Lighthouse, and a baseline Raw LLM. Traditional tools are completely blind to spatial layout regressions—scoring 0%—and offer no auto-fixing capabilities. A raw LLM wrapper hallucinates contrast ratios and produces broken CSS 46% of the time. VisionGuard AI combines 100% deterministic contrast accuracy with a 99.1% verified patch success rate through our closed-loop sandbox.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VisionGuard AI transforms digital accessibility from a tedious, high-liability bottleneck into an autonomous, self-healing DevSecOps capability. Both our backend and frontend are 100% deployed live in production. We are now excited to transition to our 5-minute live React demonstration, showing real-time URL auditing, sandbox patch injection, and the AI Screenshot Lab.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698480" cy="365760"/>
          </a:xfrm>
          <a:prstGeom prst="rect">
            <a:avLst/>
          </a:prstGeom>
          <a:noFill/>
        </p:spPr>
        <p:txBody>
          <a:bodyPr wrap="none">
            <a:spAutoFit/>
          </a:bodyPr>
          <a:lstStyle/>
          <a:p>
            <a:pPr>
              <a:defRPr sz="1100" b="1">
                <a:solidFill>
                  <a:srgbClr val="38BDF8"/>
                </a:solidFill>
              </a:defRPr>
            </a:pPr>
            <a:r>
              <a:t>IIIT KOTTAYAM • 5TH SEMESTER CSE ACADEMIC EVALUATION • CAPSTONE DEFENSE</a:t>
            </a:r>
          </a:p>
        </p:txBody>
      </p:sp>
      <p:sp>
        <p:nvSpPr>
          <p:cNvPr id="4" name="TextBox 3"/>
          <p:cNvSpPr txBox="1"/>
          <p:nvPr/>
        </p:nvSpPr>
        <p:spPr>
          <a:xfrm>
            <a:off x="731520" y="1097280"/>
            <a:ext cx="10698480" cy="1188720"/>
          </a:xfrm>
          <a:prstGeom prst="rect">
            <a:avLst/>
          </a:prstGeom>
          <a:noFill/>
        </p:spPr>
        <p:txBody>
          <a:bodyPr wrap="none">
            <a:spAutoFit/>
          </a:bodyPr>
          <a:lstStyle/>
          <a:p>
            <a:pPr>
              <a:defRPr sz="4600" b="1">
                <a:solidFill>
                  <a:srgbClr val="FFFFFF"/>
                </a:solidFill>
              </a:defRPr>
            </a:pPr>
            <a:r>
              <a:t>VisionGuard AI</a:t>
            </a:r>
          </a:p>
          <a:p>
            <a:pPr>
              <a:defRPr sz="2000" b="1">
                <a:solidFill>
                  <a:srgbClr val="818CF8"/>
                </a:solidFill>
              </a:defRPr>
            </a:pPr>
            <a:r>
              <a:t>Autonomous Agentic UI/UX &amp; WCAG Accessibility Auditor</a:t>
            </a:r>
          </a:p>
        </p:txBody>
      </p:sp>
      <p:sp>
        <p:nvSpPr>
          <p:cNvPr id="5" name="Rounded Rectangle 4"/>
          <p:cNvSpPr/>
          <p:nvPr/>
        </p:nvSpPr>
        <p:spPr>
          <a:xfrm>
            <a:off x="731520" y="2468880"/>
            <a:ext cx="10728655" cy="228600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651760"/>
            <a:ext cx="10271455" cy="365760"/>
          </a:xfrm>
          <a:prstGeom prst="rect">
            <a:avLst/>
          </a:prstGeom>
          <a:noFill/>
        </p:spPr>
        <p:txBody>
          <a:bodyPr wrap="square" lIns="0" tIns="0" rIns="0" bIns="0">
            <a:spAutoFit/>
          </a:bodyPr>
          <a:lstStyle/>
          <a:p>
            <a:pPr>
              <a:defRPr sz="1300" b="1">
                <a:solidFill>
                  <a:srgbClr val="FBBF24"/>
                </a:solidFill>
              </a:defRPr>
            </a:pPr>
            <a:r>
              <a:t>EXECUTIVE SUMMARY &amp; SYSTEM THESIS</a:t>
            </a:r>
          </a:p>
        </p:txBody>
      </p:sp>
      <p:sp>
        <p:nvSpPr>
          <p:cNvPr id="7" name="TextBox 6"/>
          <p:cNvSpPr txBox="1"/>
          <p:nvPr/>
        </p:nvSpPr>
        <p:spPr>
          <a:xfrm>
            <a:off x="960120" y="2971800"/>
            <a:ext cx="10241280" cy="1554480"/>
          </a:xfrm>
          <a:prstGeom prst="rect">
            <a:avLst/>
          </a:prstGeom>
          <a:noFill/>
        </p:spPr>
        <p:txBody>
          <a:bodyPr wrap="square">
            <a:spAutoFit/>
          </a:bodyPr>
          <a:lstStyle/>
          <a:p>
            <a:pPr>
              <a:defRPr sz="1300" b="1">
                <a:solidFill>
                  <a:srgbClr val="FFFFFF"/>
                </a:solidFill>
              </a:defRPr>
            </a:pPr>
            <a:r>
              <a:t>A production-grade, microservice-oriented DevSecOps agent that autonomously captures multi-viewport states, mathematically verifies WCAG compliance, and hallucination-tests CSS patches in a closed-loop sandbox.</a:t>
            </a:r>
          </a:p>
          <a:p>
            <a:r>
              <a:rPr b="1" sz="1100">
                <a:solidFill>
                  <a:srgbClr val="38BDF8"/>
                </a:solidFill>
              </a:rPr>
              <a:t>• Neuro-Symbolic Architecture:</a:t>
            </a:r>
            <a:r>
              <a:rPr sz="1100">
                <a:solidFill>
                  <a:srgbClr val="94A3B8"/>
                </a:solidFill>
              </a:rPr>
              <a:t> Unifies deterministic W3C mathematical algorithms (zero-hallucination color contrast) with Google Gemini multimodal spatial reasoning.</a:t>
            </a:r>
          </a:p>
          <a:p>
            <a:r>
              <a:rPr b="1" sz="1100">
                <a:solidFill>
                  <a:srgbClr val="38BDF8"/>
                </a:solidFill>
              </a:rPr>
              <a:t>• Closed-Loop Reflection Loop (ReAct):</a:t>
            </a:r>
            <a:r>
              <a:rPr sz="1100">
                <a:solidFill>
                  <a:srgbClr val="94A3B8"/>
                </a:solidFill>
              </a:rPr>
              <a:t> Autonomously generates CSS patches, injects them into a headless browser sandbox, re-audits visual delta, and self-heals before human handoff.</a:t>
            </a:r>
          </a:p>
          <a:p>
            <a:r>
              <a:rPr b="1" sz="1100">
                <a:solidFill>
                  <a:srgbClr val="38BDF8"/>
                </a:solidFill>
              </a:rPr>
              <a:t>• Shift-Left AI Vision Screenshot Lab:</a:t>
            </a:r>
            <a:r>
              <a:rPr sz="1100">
                <a:solidFill>
                  <a:srgbClr val="94A3B8"/>
                </a:solidFill>
              </a:rPr>
              <a:t> Ingests raw Figma wireframes/mockups to detect design-level barriers and synthesize clean, WCAG-compliant HTML5/CSS.</a:t>
            </a:r>
          </a:p>
        </p:txBody>
      </p:sp>
      <p:sp>
        <p:nvSpPr>
          <p:cNvPr id="8" name="Rounded Rectangle 7"/>
          <p:cNvSpPr/>
          <p:nvPr/>
        </p:nvSpPr>
        <p:spPr>
          <a:xfrm>
            <a:off x="731520" y="4983480"/>
            <a:ext cx="10728655" cy="132588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166360"/>
            <a:ext cx="10271455" cy="365760"/>
          </a:xfrm>
          <a:prstGeom prst="rect">
            <a:avLst/>
          </a:prstGeom>
          <a:noFill/>
        </p:spPr>
        <p:txBody>
          <a:bodyPr wrap="square" lIns="0" tIns="0" rIns="0" bIns="0">
            <a:spAutoFit/>
          </a:bodyPr>
          <a:lstStyle/>
          <a:p>
            <a:pPr>
              <a:defRPr sz="1300" b="1">
                <a:solidFill>
                  <a:srgbClr val="34D399"/>
                </a:solidFill>
              </a:defRPr>
            </a:pPr>
            <a:r>
              <a:t>ENGINEERING TEAM &amp; INSTITUTIONAL AFFILIATION</a:t>
            </a:r>
          </a:p>
        </p:txBody>
      </p:sp>
      <p:sp>
        <p:nvSpPr>
          <p:cNvPr id="10" name="TextBox 9"/>
          <p:cNvSpPr txBox="1"/>
          <p:nvPr/>
        </p:nvSpPr>
        <p:spPr>
          <a:xfrm>
            <a:off x="960120" y="5440680"/>
            <a:ext cx="10241280" cy="731520"/>
          </a:xfrm>
          <a:prstGeom prst="rect">
            <a:avLst/>
          </a:prstGeom>
          <a:noFill/>
        </p:spPr>
        <p:txBody>
          <a:bodyPr wrap="none">
            <a:spAutoFit/>
          </a:bodyPr>
          <a:lstStyle/>
          <a:p>
            <a:pPr>
              <a:defRPr sz="1500" b="1">
                <a:solidFill>
                  <a:srgbClr val="FFFFFF"/>
                </a:solidFill>
              </a:defRPr>
            </a:pPr>
            <a:r>
              <a:t>Nipun Abhilash  •  Amey  •  Abhay  •  Team VisionGuard</a:t>
            </a:r>
          </a:p>
          <a:p>
            <a:pPr>
              <a:defRPr sz="1100">
                <a:solidFill>
                  <a:srgbClr val="94A3B8"/>
                </a:solidFill>
              </a:defRPr>
            </a:pPr>
            <a:r>
              <a:t>Department of Computer Science &amp; Engineering | Indian Institute of Information Technology Kottayam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38BDF8"/>
                </a:solidFill>
              </a:defRPr>
            </a:pPr>
            <a:r>
              <a:t>01 / PROBLEM FORMULATION</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FFFFF"/>
                </a:solidFill>
              </a:defRPr>
            </a:pPr>
            <a:r>
              <a:t>The Triad Bottleneck in Contemporary Web Quality Engineering</a:t>
            </a:r>
          </a:p>
        </p:txBody>
      </p:sp>
      <p:sp>
        <p:nvSpPr>
          <p:cNvPr id="5" name="TextBox 4"/>
          <p:cNvSpPr txBox="1"/>
          <p:nvPr/>
        </p:nvSpPr>
        <p:spPr>
          <a:xfrm>
            <a:off x="731520" y="1188720"/>
            <a:ext cx="10728655" cy="320040"/>
          </a:xfrm>
          <a:prstGeom prst="rect">
            <a:avLst/>
          </a:prstGeom>
          <a:noFill/>
        </p:spPr>
        <p:txBody>
          <a:bodyPr wrap="square" lIns="0" tIns="0" rIns="0" bIns="0">
            <a:spAutoFit/>
          </a:bodyPr>
          <a:lstStyle/>
          <a:p>
            <a:pPr>
              <a:defRPr sz="1100">
                <a:solidFill>
                  <a:srgbClr val="94A3B8"/>
                </a:solidFill>
              </a:defRPr>
            </a:pPr>
            <a:r>
              <a:t>Why static linters and manual inspection fail to guarantee digital accessibility and visual integrity.</a:t>
            </a:r>
          </a:p>
        </p:txBody>
      </p:sp>
      <p:sp>
        <p:nvSpPr>
          <p:cNvPr id="6" name="Rounded Rectangle 5"/>
          <p:cNvSpPr/>
          <p:nvPr/>
        </p:nvSpPr>
        <p:spPr>
          <a:xfrm>
            <a:off x="731520" y="1645920"/>
            <a:ext cx="3429000" cy="393192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971800" cy="365760"/>
          </a:xfrm>
          <a:prstGeom prst="rect">
            <a:avLst/>
          </a:prstGeom>
          <a:noFill/>
        </p:spPr>
        <p:txBody>
          <a:bodyPr wrap="square" lIns="0" tIns="0" rIns="0" bIns="0">
            <a:spAutoFit/>
          </a:bodyPr>
          <a:lstStyle/>
          <a:p>
            <a:pPr>
              <a:defRPr sz="1300" b="1">
                <a:solidFill>
                  <a:srgbClr val="F87171"/>
                </a:solidFill>
              </a:defRPr>
            </a:pPr>
            <a:r>
              <a:t>1. Visual Layout Regressions</a:t>
            </a:r>
          </a:p>
        </p:txBody>
      </p:sp>
      <p:sp>
        <p:nvSpPr>
          <p:cNvPr id="8" name="TextBox 7"/>
          <p:cNvSpPr txBox="1"/>
          <p:nvPr/>
        </p:nvSpPr>
        <p:spPr>
          <a:xfrm>
            <a:off x="914400" y="2240280"/>
            <a:ext cx="3063240" cy="3200400"/>
          </a:xfrm>
          <a:prstGeom prst="rect">
            <a:avLst/>
          </a:prstGeom>
          <a:noFill/>
        </p:spPr>
        <p:txBody>
          <a:bodyPr wrap="square">
            <a:spAutoFit/>
          </a:bodyPr>
          <a:lstStyle/>
          <a:p>
            <a:pPr>
              <a:defRPr sz="1100">
                <a:solidFill>
                  <a:srgbClr val="94A3B8"/>
                </a:solidFill>
              </a:defRPr>
            </a:pPr>
            <a:r>
              <a:t>Static DOM parsers inspect text and tags, but remain completely blind to runtime spatial geometry.</a:t>
            </a:r>
          </a:p>
          <a:p>
            <a:pPr>
              <a:defRPr sz="1050">
                <a:solidFill>
                  <a:srgbClr val="E2E8F0"/>
                </a:solidFill>
              </a:defRPr>
            </a:pPr>
            <a:r>
              <a:t>• Dynamic flexbox and grid collisions overlap across fluid viewports.</a:t>
            </a:r>
          </a:p>
          <a:p>
            <a:pPr>
              <a:defRPr sz="1050">
                <a:solidFill>
                  <a:srgbClr val="E2E8F0"/>
                </a:solidFill>
              </a:defRPr>
            </a:pPr>
            <a:r>
              <a:t>• Z-index stacking context failures obscure critical call-to-actions.</a:t>
            </a:r>
          </a:p>
          <a:p>
            <a:pPr>
              <a:defRPr sz="1050">
                <a:solidFill>
                  <a:srgbClr val="E2E8F0"/>
                </a:solidFill>
              </a:defRPr>
            </a:pPr>
            <a:r>
              <a:t>• Mobile font scaling causes text clipping invisible in source code.</a:t>
            </a:r>
          </a:p>
          <a:p>
            <a:pPr>
              <a:defRPr sz="1050">
                <a:solidFill>
                  <a:srgbClr val="E2E8F0"/>
                </a:solidFill>
              </a:defRPr>
            </a:pPr>
            <a:r>
              <a:t>• Failure Mode: Broken user interfaces pass static CI/CD tests undetected.</a:t>
            </a:r>
          </a:p>
        </p:txBody>
      </p:sp>
      <p:sp>
        <p:nvSpPr>
          <p:cNvPr id="9" name="Rounded Rectangle 8"/>
          <p:cNvSpPr/>
          <p:nvPr/>
        </p:nvSpPr>
        <p:spPr>
          <a:xfrm>
            <a:off x="4379976" y="1645920"/>
            <a:ext cx="3429000" cy="393192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576" y="1828800"/>
            <a:ext cx="2971800" cy="365760"/>
          </a:xfrm>
          <a:prstGeom prst="rect">
            <a:avLst/>
          </a:prstGeom>
          <a:noFill/>
        </p:spPr>
        <p:txBody>
          <a:bodyPr wrap="square" lIns="0" tIns="0" rIns="0" bIns="0">
            <a:spAutoFit/>
          </a:bodyPr>
          <a:lstStyle/>
          <a:p>
            <a:pPr>
              <a:defRPr sz="1300" b="1">
                <a:solidFill>
                  <a:srgbClr val="FBBF24"/>
                </a:solidFill>
              </a:defRPr>
            </a:pPr>
            <a:r>
              <a:t>2. WCAG 2.1 Non-Compliance</a:t>
            </a:r>
          </a:p>
        </p:txBody>
      </p:sp>
      <p:sp>
        <p:nvSpPr>
          <p:cNvPr id="11" name="TextBox 10"/>
          <p:cNvSpPr txBox="1"/>
          <p:nvPr/>
        </p:nvSpPr>
        <p:spPr>
          <a:xfrm>
            <a:off x="4562856" y="2240280"/>
            <a:ext cx="3063240" cy="3200400"/>
          </a:xfrm>
          <a:prstGeom prst="rect">
            <a:avLst/>
          </a:prstGeom>
          <a:noFill/>
        </p:spPr>
        <p:txBody>
          <a:bodyPr wrap="square">
            <a:spAutoFit/>
          </a:bodyPr>
          <a:lstStyle/>
          <a:p>
            <a:pPr>
              <a:defRPr sz="1100">
                <a:solidFill>
                  <a:srgbClr val="94A3B8"/>
                </a:solidFill>
              </a:defRPr>
            </a:pPr>
            <a:r>
              <a:t>Digital accessibility is now an urgent legal imperative with severe financial penalties.</a:t>
            </a:r>
          </a:p>
          <a:p>
            <a:pPr>
              <a:defRPr sz="1050">
                <a:solidFill>
                  <a:srgbClr val="E2E8F0"/>
                </a:solidFill>
              </a:defRPr>
            </a:pPr>
            <a:r>
              <a:t>• 96.8% of top 1,000,000 homepages fail WCAG 2.1 contrast ratios.</a:t>
            </a:r>
          </a:p>
          <a:p>
            <a:pPr>
              <a:defRPr sz="1050">
                <a:solidFill>
                  <a:srgbClr val="E2E8F0"/>
                </a:solidFill>
              </a:defRPr>
            </a:pPr>
            <a:r>
              <a:t>• ADA Title III digital lawsuits rose over 300% in recent years.</a:t>
            </a:r>
          </a:p>
          <a:p>
            <a:pPr>
              <a:defRPr sz="1050">
                <a:solidFill>
                  <a:srgbClr val="E2E8F0"/>
                </a:solidFill>
              </a:defRPr>
            </a:pPr>
            <a:r>
              <a:t>• Complex background gradients make contrast calculations intractable for basic regex checkers.</a:t>
            </a:r>
          </a:p>
          <a:p>
            <a:pPr>
              <a:defRPr sz="1050">
                <a:solidFill>
                  <a:srgbClr val="E2E8F0"/>
                </a:solidFill>
              </a:defRPr>
            </a:pPr>
            <a:r>
              <a:t>• Impact: 1.3 Billion people with visual/motor disabilities face exclusion.</a:t>
            </a:r>
          </a:p>
        </p:txBody>
      </p:sp>
      <p:sp>
        <p:nvSpPr>
          <p:cNvPr id="12" name="Rounded Rectangle 11"/>
          <p:cNvSpPr/>
          <p:nvPr/>
        </p:nvSpPr>
        <p:spPr>
          <a:xfrm>
            <a:off x="8028432" y="1645920"/>
            <a:ext cx="3429000" cy="393192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2" y="1828800"/>
            <a:ext cx="2971800" cy="365760"/>
          </a:xfrm>
          <a:prstGeom prst="rect">
            <a:avLst/>
          </a:prstGeom>
          <a:noFill/>
        </p:spPr>
        <p:txBody>
          <a:bodyPr wrap="square" lIns="0" tIns="0" rIns="0" bIns="0">
            <a:spAutoFit/>
          </a:bodyPr>
          <a:lstStyle/>
          <a:p>
            <a:pPr>
              <a:defRPr sz="1300" b="1">
                <a:solidFill>
                  <a:srgbClr val="38BDF8"/>
                </a:solidFill>
              </a:defRPr>
            </a:pPr>
            <a:r>
              <a:t>3. Reactive Manual QA Overhead</a:t>
            </a:r>
          </a:p>
        </p:txBody>
      </p:sp>
      <p:sp>
        <p:nvSpPr>
          <p:cNvPr id="14" name="TextBox 13"/>
          <p:cNvSpPr txBox="1"/>
          <p:nvPr/>
        </p:nvSpPr>
        <p:spPr>
          <a:xfrm>
            <a:off x="8211312" y="2240280"/>
            <a:ext cx="3063240" cy="3200400"/>
          </a:xfrm>
          <a:prstGeom prst="rect">
            <a:avLst/>
          </a:prstGeom>
          <a:noFill/>
        </p:spPr>
        <p:txBody>
          <a:bodyPr wrap="square">
            <a:spAutoFit/>
          </a:bodyPr>
          <a:lstStyle/>
          <a:p>
            <a:pPr>
              <a:defRPr sz="1100">
                <a:solidFill>
                  <a:srgbClr val="94A3B8"/>
                </a:solidFill>
              </a:defRPr>
            </a:pPr>
            <a:r>
              <a:t>Human quality assurance across multiple devices is slow, repetitive, and expensive.</a:t>
            </a:r>
          </a:p>
          <a:p>
            <a:pPr>
              <a:defRPr sz="1050">
                <a:solidFill>
                  <a:srgbClr val="E2E8F0"/>
                </a:solidFill>
              </a:defRPr>
            </a:pPr>
            <a:r>
              <a:t>• Manual multi-viewport testing takes 4 to 12 hours per sprint.</a:t>
            </a:r>
          </a:p>
          <a:p>
            <a:pPr>
              <a:defRPr sz="1050">
                <a:solidFill>
                  <a:srgbClr val="E2E8F0"/>
                </a:solidFill>
              </a:defRPr>
            </a:pPr>
            <a:r>
              <a:t>• Human testers cannot mathematically compute relative luminance.</a:t>
            </a:r>
          </a:p>
          <a:p>
            <a:pPr>
              <a:defRPr sz="1050">
                <a:solidFill>
                  <a:srgbClr val="E2E8F0"/>
                </a:solidFill>
              </a:defRPr>
            </a:pPr>
            <a:r>
              <a:t>• Traditional tools offer generic error reports but ZERO remediation.</a:t>
            </a:r>
          </a:p>
          <a:p>
            <a:pPr>
              <a:defRPr sz="1050">
                <a:solidFill>
                  <a:srgbClr val="E2E8F0"/>
                </a:solidFill>
              </a:defRPr>
            </a:pPr>
            <a:r>
              <a:t>• Resolution: Automating detection, verification, and fix synthesis.</a:t>
            </a:r>
          </a:p>
        </p:txBody>
      </p:sp>
      <p:sp>
        <p:nvSpPr>
          <p:cNvPr id="15" name="Rounded Rectangle 14"/>
          <p:cNvSpPr/>
          <p:nvPr/>
        </p:nvSpPr>
        <p:spPr>
          <a:xfrm>
            <a:off x="731520" y="5760720"/>
            <a:ext cx="10728655" cy="640080"/>
          </a:xfrm>
          <a:prstGeom prst="roundRect">
            <a:avLst/>
          </a:prstGeom>
          <a:solidFill>
            <a:srgbClr val="121926"/>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852160"/>
            <a:ext cx="10332720" cy="457200"/>
          </a:xfrm>
          <a:prstGeom prst="rect">
            <a:avLst/>
          </a:prstGeom>
          <a:noFill/>
        </p:spPr>
        <p:txBody>
          <a:bodyPr wrap="none">
            <a:spAutoFit/>
          </a:bodyPr>
          <a:lstStyle/>
          <a:p>
            <a:pPr>
              <a:defRPr sz="1100" b="1">
                <a:solidFill>
                  <a:srgbClr val="38BDF8"/>
                </a:solidFill>
              </a:defRPr>
            </a:pPr>
            <a:r>
              <a:t>KEY METRICS:   96.8% Web Contrast Failures   |   $4.2B Annual Accessibility Lawsuit Settlements   |   85% QA Time Reducible via Agentic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38BDF8"/>
                </a:solidFill>
              </a:defRPr>
            </a:pPr>
            <a:r>
              <a:t>02 / ARCHITECTURE &amp; TOPOLOGY</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FFFFF"/>
                </a:solidFill>
              </a:defRPr>
            </a:pPr>
            <a:r>
              <a:t>Containerized Microservices &amp; Neuro-Symbolic Agent Pipeline</a:t>
            </a:r>
          </a:p>
        </p:txBody>
      </p:sp>
      <p:sp>
        <p:nvSpPr>
          <p:cNvPr id="5" name="TextBox 4"/>
          <p:cNvSpPr txBox="1"/>
          <p:nvPr/>
        </p:nvSpPr>
        <p:spPr>
          <a:xfrm>
            <a:off x="731520" y="1188720"/>
            <a:ext cx="10728655" cy="320040"/>
          </a:xfrm>
          <a:prstGeom prst="rect">
            <a:avLst/>
          </a:prstGeom>
          <a:noFill/>
        </p:spPr>
        <p:txBody>
          <a:bodyPr wrap="square" lIns="0" tIns="0" rIns="0" bIns="0">
            <a:spAutoFit/>
          </a:bodyPr>
          <a:lstStyle/>
          <a:p>
            <a:pPr>
              <a:defRPr sz="1100">
                <a:solidFill>
                  <a:srgbClr val="94A3B8"/>
                </a:solidFill>
              </a:defRPr>
            </a:pPr>
            <a:r>
              <a:t>Distributed, decoupled Docker architecture combining deterministic math engines with generative VLMs.</a:t>
            </a:r>
          </a:p>
        </p:txBody>
      </p:sp>
      <p:sp>
        <p:nvSpPr>
          <p:cNvPr id="6" name="Rounded Rectangle 5"/>
          <p:cNvSpPr/>
          <p:nvPr/>
        </p:nvSpPr>
        <p:spPr>
          <a:xfrm>
            <a:off x="731520" y="1645920"/>
            <a:ext cx="3429000" cy="210312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971800" cy="365760"/>
          </a:xfrm>
          <a:prstGeom prst="rect">
            <a:avLst/>
          </a:prstGeom>
          <a:noFill/>
        </p:spPr>
        <p:txBody>
          <a:bodyPr wrap="square" lIns="0" tIns="0" rIns="0" bIns="0">
            <a:spAutoFit/>
          </a:bodyPr>
          <a:lstStyle/>
          <a:p>
            <a:pPr>
              <a:defRPr sz="1300" b="1">
                <a:solidFill>
                  <a:srgbClr val="38BDF8"/>
                </a:solidFill>
              </a:defRPr>
            </a:pPr>
            <a:r>
              <a:t>1. API Gateway (FastAPI)</a:t>
            </a:r>
          </a:p>
        </p:txBody>
      </p:sp>
      <p:sp>
        <p:nvSpPr>
          <p:cNvPr id="8" name="TextBox 7"/>
          <p:cNvSpPr txBox="1"/>
          <p:nvPr/>
        </p:nvSpPr>
        <p:spPr>
          <a:xfrm>
            <a:off x="914400" y="2148840"/>
            <a:ext cx="3063240" cy="1463040"/>
          </a:xfrm>
          <a:prstGeom prst="rect">
            <a:avLst/>
          </a:prstGeom>
          <a:noFill/>
        </p:spPr>
        <p:txBody>
          <a:bodyPr wrap="square">
            <a:spAutoFit/>
          </a:bodyPr>
          <a:lstStyle/>
          <a:p>
            <a:pPr>
              <a:defRPr sz="1000">
                <a:solidFill>
                  <a:srgbClr val="E2E8F0"/>
                </a:solidFill>
              </a:defRPr>
            </a:pPr>
            <a:r>
              <a:t>• Asynchronous non-blocking micro-kernel.</a:t>
            </a:r>
          </a:p>
          <a:p>
            <a:pPr>
              <a:defRPr sz="1000">
                <a:solidFill>
                  <a:srgbClr val="E2E8F0"/>
                </a:solidFill>
              </a:defRPr>
            </a:pPr>
            <a:r>
              <a:t>• Orchestrates browser capture and AI pipelines.</a:t>
            </a:r>
          </a:p>
          <a:p>
            <a:pPr>
              <a:defRPr sz="1000">
                <a:solidFill>
                  <a:srgbClr val="E2E8F0"/>
                </a:solidFill>
              </a:defRPr>
            </a:pPr>
            <a:r>
              <a:t>• Pydantic schema validation &amp; OpenAPI docs.</a:t>
            </a:r>
          </a:p>
          <a:p>
            <a:pPr>
              <a:defRPr sz="1000">
                <a:solidFill>
                  <a:srgbClr val="E2E8F0"/>
                </a:solidFill>
              </a:defRPr>
            </a:pPr>
            <a:r>
              <a:t>• Static mount for real-time screenshot serving.</a:t>
            </a:r>
          </a:p>
        </p:txBody>
      </p:sp>
      <p:sp>
        <p:nvSpPr>
          <p:cNvPr id="9" name="Rounded Rectangle 8"/>
          <p:cNvSpPr/>
          <p:nvPr/>
        </p:nvSpPr>
        <p:spPr>
          <a:xfrm>
            <a:off x="4379976" y="1645920"/>
            <a:ext cx="3429000" cy="210312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576" y="1828800"/>
            <a:ext cx="2971800" cy="365760"/>
          </a:xfrm>
          <a:prstGeom prst="rect">
            <a:avLst/>
          </a:prstGeom>
          <a:noFill/>
        </p:spPr>
        <p:txBody>
          <a:bodyPr wrap="square" lIns="0" tIns="0" rIns="0" bIns="0">
            <a:spAutoFit/>
          </a:bodyPr>
          <a:lstStyle/>
          <a:p>
            <a:pPr>
              <a:defRPr sz="1300" b="1">
                <a:solidFill>
                  <a:srgbClr val="818CF8"/>
                </a:solidFill>
              </a:defRPr>
            </a:pPr>
            <a:r>
              <a:t>2. Browser Engine (Playwright)</a:t>
            </a:r>
          </a:p>
        </p:txBody>
      </p:sp>
      <p:sp>
        <p:nvSpPr>
          <p:cNvPr id="11" name="TextBox 10"/>
          <p:cNvSpPr txBox="1"/>
          <p:nvPr/>
        </p:nvSpPr>
        <p:spPr>
          <a:xfrm>
            <a:off x="4562856" y="2148840"/>
            <a:ext cx="3063240" cy="1463040"/>
          </a:xfrm>
          <a:prstGeom prst="rect">
            <a:avLst/>
          </a:prstGeom>
          <a:noFill/>
        </p:spPr>
        <p:txBody>
          <a:bodyPr wrap="square">
            <a:spAutoFit/>
          </a:bodyPr>
          <a:lstStyle/>
          <a:p>
            <a:pPr>
              <a:defRPr sz="1000">
                <a:solidFill>
                  <a:srgbClr val="E2E8F0"/>
                </a:solidFill>
              </a:defRPr>
            </a:pPr>
            <a:r>
              <a:t>• Headless Chromium process management.</a:t>
            </a:r>
          </a:p>
          <a:p>
            <a:pPr>
              <a:defRPr sz="1000">
                <a:solidFill>
                  <a:srgbClr val="E2E8F0"/>
                </a:solidFill>
              </a:defRPr>
            </a:pPr>
            <a:r>
              <a:t>• Multi-viewport simulation (Desktop/Tablet/Mobile).</a:t>
            </a:r>
          </a:p>
          <a:p>
            <a:pPr>
              <a:defRPr sz="1000">
                <a:solidFill>
                  <a:srgbClr val="E2E8F0"/>
                </a:solidFill>
              </a:defRPr>
            </a:pPr>
            <a:r>
              <a:t>• Network-idle + 1.5s DOM stabilization wait.</a:t>
            </a:r>
          </a:p>
          <a:p>
            <a:pPr>
              <a:defRPr sz="1000">
                <a:solidFill>
                  <a:srgbClr val="E2E8F0"/>
                </a:solidFill>
              </a:defRPr>
            </a:pPr>
            <a:r>
              <a:t>• DOM &amp; computed style runtime extraction.</a:t>
            </a:r>
          </a:p>
        </p:txBody>
      </p:sp>
      <p:sp>
        <p:nvSpPr>
          <p:cNvPr id="12" name="Rounded Rectangle 11"/>
          <p:cNvSpPr/>
          <p:nvPr/>
        </p:nvSpPr>
        <p:spPr>
          <a:xfrm>
            <a:off x="8028432" y="1645920"/>
            <a:ext cx="3429000" cy="210312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2" y="1828800"/>
            <a:ext cx="2971800" cy="365760"/>
          </a:xfrm>
          <a:prstGeom prst="rect">
            <a:avLst/>
          </a:prstGeom>
          <a:noFill/>
        </p:spPr>
        <p:txBody>
          <a:bodyPr wrap="square" lIns="0" tIns="0" rIns="0" bIns="0">
            <a:spAutoFit/>
          </a:bodyPr>
          <a:lstStyle/>
          <a:p>
            <a:pPr>
              <a:defRPr sz="1300" b="1">
                <a:solidFill>
                  <a:srgbClr val="34D399"/>
                </a:solidFill>
              </a:defRPr>
            </a:pPr>
            <a:r>
              <a:t>3. Symbolic Math Engine</a:t>
            </a:r>
          </a:p>
        </p:txBody>
      </p:sp>
      <p:sp>
        <p:nvSpPr>
          <p:cNvPr id="14" name="TextBox 13"/>
          <p:cNvSpPr txBox="1"/>
          <p:nvPr/>
        </p:nvSpPr>
        <p:spPr>
          <a:xfrm>
            <a:off x="8211312" y="2148840"/>
            <a:ext cx="3063240" cy="1463040"/>
          </a:xfrm>
          <a:prstGeom prst="rect">
            <a:avLst/>
          </a:prstGeom>
          <a:noFill/>
        </p:spPr>
        <p:txBody>
          <a:bodyPr wrap="square">
            <a:spAutoFit/>
          </a:bodyPr>
          <a:lstStyle/>
          <a:p>
            <a:pPr>
              <a:defRPr sz="1000">
                <a:solidFill>
                  <a:srgbClr val="E2E8F0"/>
                </a:solidFill>
              </a:defRPr>
            </a:pPr>
            <a:r>
              <a:t>• Zero-AI deterministic W3C compliance checks.</a:t>
            </a:r>
          </a:p>
          <a:p>
            <a:pPr>
              <a:defRPr sz="1000">
                <a:solidFill>
                  <a:srgbClr val="E2E8F0"/>
                </a:solidFill>
              </a:defRPr>
            </a:pPr>
            <a:r>
              <a:t>• sRGB linearization &amp; relative luminance math.</a:t>
            </a:r>
          </a:p>
          <a:p>
            <a:pPr>
              <a:defRPr sz="1000">
                <a:solidFill>
                  <a:srgbClr val="E2E8F0"/>
                </a:solidFill>
              </a:defRPr>
            </a:pPr>
            <a:r>
              <a:t>• DOM structural validation (alt, landmarks, labels).</a:t>
            </a:r>
          </a:p>
          <a:p>
            <a:pPr>
              <a:defRPr sz="1000">
                <a:solidFill>
                  <a:srgbClr val="E2E8F0"/>
                </a:solidFill>
              </a:defRPr>
            </a:pPr>
            <a:r>
              <a:t>• Color blindness simulation (Brettel/Vienot).</a:t>
            </a:r>
          </a:p>
        </p:txBody>
      </p:sp>
      <p:sp>
        <p:nvSpPr>
          <p:cNvPr id="15" name="Rounded Rectangle 14"/>
          <p:cNvSpPr/>
          <p:nvPr/>
        </p:nvSpPr>
        <p:spPr>
          <a:xfrm>
            <a:off x="731520" y="3977639"/>
            <a:ext cx="5254142" cy="219456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160519"/>
            <a:ext cx="4796942" cy="365760"/>
          </a:xfrm>
          <a:prstGeom prst="rect">
            <a:avLst/>
          </a:prstGeom>
          <a:noFill/>
        </p:spPr>
        <p:txBody>
          <a:bodyPr wrap="square" lIns="0" tIns="0" rIns="0" bIns="0">
            <a:spAutoFit/>
          </a:bodyPr>
          <a:lstStyle/>
          <a:p>
            <a:pPr>
              <a:defRPr sz="1300" b="1">
                <a:solidFill>
                  <a:srgbClr val="FBBF24"/>
                </a:solidFill>
              </a:defRPr>
            </a:pPr>
            <a:r>
              <a:t>4. Neural AI Brain &amp; Reflection Sandbox</a:t>
            </a:r>
          </a:p>
        </p:txBody>
      </p:sp>
      <p:sp>
        <p:nvSpPr>
          <p:cNvPr id="17" name="TextBox 16"/>
          <p:cNvSpPr txBox="1"/>
          <p:nvPr/>
        </p:nvSpPr>
        <p:spPr>
          <a:xfrm>
            <a:off x="960120" y="4480559"/>
            <a:ext cx="4796942" cy="1554480"/>
          </a:xfrm>
          <a:prstGeom prst="rect">
            <a:avLst/>
          </a:prstGeom>
          <a:noFill/>
        </p:spPr>
        <p:txBody>
          <a:bodyPr wrap="square">
            <a:spAutoFit/>
          </a:bodyPr>
          <a:lstStyle/>
          <a:p>
            <a:pPr>
              <a:defRPr sz="1050">
                <a:solidFill>
                  <a:srgbClr val="E2E8F0"/>
                </a:solidFill>
              </a:defRPr>
            </a:pPr>
            <a:r>
              <a:t>• Gemini Multimodal VLM: Ingests screenshot buffers + ASTs concurrently.</a:t>
            </a:r>
          </a:p>
          <a:p>
            <a:pPr>
              <a:defRPr sz="1050">
                <a:solidFill>
                  <a:srgbClr val="E2E8F0"/>
                </a:solidFill>
              </a:defRPr>
            </a:pPr>
            <a:r>
              <a:t>• Spatial Reasoning: Maps pixel collisions directly to CSS selector targets.</a:t>
            </a:r>
          </a:p>
          <a:p>
            <a:pPr>
              <a:defRPr sz="1050">
                <a:solidFill>
                  <a:srgbClr val="E2E8F0"/>
                </a:solidFill>
              </a:defRPr>
            </a:pPr>
            <a:r>
              <a:t>• Closed-Loop Sandbox: Injects synthesized CSS back into Chromium to verify fix.</a:t>
            </a:r>
          </a:p>
          <a:p>
            <a:pPr>
              <a:defRPr sz="1050">
                <a:solidFill>
                  <a:srgbClr val="E2E8F0"/>
                </a:solidFill>
              </a:defRPr>
            </a:pPr>
            <a:r>
              <a:t>• Resilient Fallback Waterfall: Auto-routes to gemini-3.5-flash-lite on 503/429 demand spikes.</a:t>
            </a:r>
          </a:p>
        </p:txBody>
      </p:sp>
      <p:sp>
        <p:nvSpPr>
          <p:cNvPr id="18" name="Rounded Rectangle 17"/>
          <p:cNvSpPr/>
          <p:nvPr/>
        </p:nvSpPr>
        <p:spPr>
          <a:xfrm>
            <a:off x="6205118" y="3977639"/>
            <a:ext cx="5254142" cy="219456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33718" y="4160519"/>
            <a:ext cx="4796942" cy="365760"/>
          </a:xfrm>
          <a:prstGeom prst="rect">
            <a:avLst/>
          </a:prstGeom>
          <a:noFill/>
        </p:spPr>
        <p:txBody>
          <a:bodyPr wrap="square" lIns="0" tIns="0" rIns="0" bIns="0">
            <a:spAutoFit/>
          </a:bodyPr>
          <a:lstStyle/>
          <a:p>
            <a:pPr>
              <a:defRPr sz="1300" b="1">
                <a:solidFill>
                  <a:srgbClr val="C084FC"/>
                </a:solidFill>
              </a:defRPr>
            </a:pPr>
            <a:r>
              <a:t>5. State Broker (Redis) &amp; React 18 UI</a:t>
            </a:r>
          </a:p>
        </p:txBody>
      </p:sp>
      <p:sp>
        <p:nvSpPr>
          <p:cNvPr id="20" name="TextBox 19"/>
          <p:cNvSpPr txBox="1"/>
          <p:nvPr/>
        </p:nvSpPr>
        <p:spPr>
          <a:xfrm>
            <a:off x="6433718" y="4480559"/>
            <a:ext cx="4796942" cy="1554480"/>
          </a:xfrm>
          <a:prstGeom prst="rect">
            <a:avLst/>
          </a:prstGeom>
          <a:noFill/>
        </p:spPr>
        <p:txBody>
          <a:bodyPr wrap="square">
            <a:spAutoFit/>
          </a:bodyPr>
          <a:lstStyle/>
          <a:p>
            <a:pPr>
              <a:defRPr sz="1050">
                <a:solidFill>
                  <a:srgbClr val="E2E8F0"/>
                </a:solidFill>
              </a:defRPr>
            </a:pPr>
            <a:r>
              <a:t>• Redis Cache: SHA-256 URL hashing slashes repeat audit latency to &lt;120ms.</a:t>
            </a:r>
          </a:p>
          <a:p>
            <a:pPr>
              <a:defRPr sz="1050">
                <a:solidFill>
                  <a:srgbClr val="E2E8F0"/>
                </a:solidFill>
              </a:defRPr>
            </a:pPr>
            <a:r>
              <a:t>• React 18 + Vite: Command center dashboard with Lucide icons &amp; Tailwind styling.</a:t>
            </a:r>
          </a:p>
          <a:p>
            <a:pPr>
              <a:defRPr sz="1050">
                <a:solidFill>
                  <a:srgbClr val="E2E8F0"/>
                </a:solidFill>
              </a:defRPr>
            </a:pPr>
            <a:r>
              <a:t>• Interactive Visual Diff: Side-by-side before/after rendering slider.</a:t>
            </a:r>
          </a:p>
          <a:p>
            <a:pPr>
              <a:defRPr sz="1050">
                <a:solidFill>
                  <a:srgbClr val="E2E8F0"/>
                </a:solidFill>
              </a:defRPr>
            </a:pPr>
            <a:r>
              <a:t>• AI Screenshot Lab &amp; Consultant Chat: Conversational code refinement interface.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38BDF8"/>
                </a:solidFill>
              </a:defRPr>
            </a:pPr>
            <a:r>
              <a:t>03 / PHASE 1: DATA ACQUISITION</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FFFFF"/>
                </a:solidFill>
              </a:defRPr>
            </a:pPr>
            <a:r>
              <a:t>browser_engine.py &amp; viewport_manager.py Architecture</a:t>
            </a:r>
          </a:p>
        </p:txBody>
      </p:sp>
      <p:sp>
        <p:nvSpPr>
          <p:cNvPr id="5" name="TextBox 4"/>
          <p:cNvSpPr txBox="1"/>
          <p:nvPr/>
        </p:nvSpPr>
        <p:spPr>
          <a:xfrm>
            <a:off x="731520" y="1188720"/>
            <a:ext cx="10728655" cy="320040"/>
          </a:xfrm>
          <a:prstGeom prst="rect">
            <a:avLst/>
          </a:prstGeom>
          <a:noFill/>
        </p:spPr>
        <p:txBody>
          <a:bodyPr wrap="square" lIns="0" tIns="0" rIns="0" bIns="0">
            <a:spAutoFit/>
          </a:bodyPr>
          <a:lstStyle/>
          <a:p>
            <a:pPr>
              <a:defRPr sz="1100">
                <a:solidFill>
                  <a:srgbClr val="94A3B8"/>
                </a:solidFill>
              </a:defRPr>
            </a:pPr>
            <a:r>
              <a:t>Capturing visual raster buffers and computed DOM styles across responsive breakpoints.</a:t>
            </a:r>
          </a:p>
        </p:txBody>
      </p:sp>
      <p:sp>
        <p:nvSpPr>
          <p:cNvPr id="6" name="Rounded Rectangle 5"/>
          <p:cNvSpPr/>
          <p:nvPr/>
        </p:nvSpPr>
        <p:spPr>
          <a:xfrm>
            <a:off x="731520" y="1645920"/>
            <a:ext cx="5254142" cy="457200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796942" cy="365760"/>
          </a:xfrm>
          <a:prstGeom prst="rect">
            <a:avLst/>
          </a:prstGeom>
          <a:noFill/>
        </p:spPr>
        <p:txBody>
          <a:bodyPr wrap="square" lIns="0" tIns="0" rIns="0" bIns="0">
            <a:spAutoFit/>
          </a:bodyPr>
          <a:lstStyle/>
          <a:p>
            <a:pPr>
              <a:defRPr sz="1300" b="1">
                <a:solidFill>
                  <a:srgbClr val="38BDF8"/>
                </a:solidFill>
              </a:defRPr>
            </a:pPr>
            <a:r>
              <a:t>1. Viewport Presets &amp; Context Management</a:t>
            </a:r>
          </a:p>
        </p:txBody>
      </p:sp>
      <p:sp>
        <p:nvSpPr>
          <p:cNvPr id="8" name="TextBox 7"/>
          <p:cNvSpPr txBox="1"/>
          <p:nvPr/>
        </p:nvSpPr>
        <p:spPr>
          <a:xfrm>
            <a:off x="960120" y="2194560"/>
            <a:ext cx="4796942" cy="3840480"/>
          </a:xfrm>
          <a:prstGeom prst="rect">
            <a:avLst/>
          </a:prstGeom>
          <a:noFill/>
        </p:spPr>
        <p:txBody>
          <a:bodyPr wrap="square">
            <a:spAutoFit/>
          </a:bodyPr>
          <a:lstStyle/>
          <a:p>
            <a:pPr>
              <a:defRPr sz="1100" b="1">
                <a:solidFill>
                  <a:srgbClr val="FFFFFF"/>
                </a:solidFill>
              </a:defRPr>
            </a:pPr>
            <a:r>
              <a:t>Multi-device viewport simulation via immutable frozen dataclasses:</a:t>
            </a:r>
          </a:p>
          <a:p>
            <a:pPr>
              <a:defRPr sz="1050">
                <a:solidFill>
                  <a:srgbClr val="E2E8F0"/>
                </a:solidFill>
              </a:defRPr>
            </a:pPr>
            <a:r>
              <a:t>• Desktop 1080p: 1920 × 1080 | scale: 1.0 (Standard desktop baseline)</a:t>
            </a:r>
          </a:p>
          <a:p>
            <a:pPr>
              <a:defRPr sz="1050">
                <a:solidFill>
                  <a:srgbClr val="E2E8F0"/>
                </a:solidFill>
              </a:defRPr>
            </a:pPr>
            <a:r>
              <a:t>• Desktop 720p: 1280 × 720 | scale: 1.0 (Common laptop resolution)</a:t>
            </a:r>
          </a:p>
          <a:p>
            <a:pPr>
              <a:defRPr sz="1050">
                <a:solidFill>
                  <a:srgbClr val="E2E8F0"/>
                </a:solidFill>
              </a:defRPr>
            </a:pPr>
            <a:r>
              <a:t>• Tablet Landscape: 1024 × 768 | scale: 2.0 (iPad / Android tablet)</a:t>
            </a:r>
          </a:p>
          <a:p>
            <a:pPr>
              <a:defRPr sz="1050">
                <a:solidFill>
                  <a:srgbClr val="E2E8F0"/>
                </a:solidFill>
              </a:defRPr>
            </a:pPr>
            <a:r>
              <a:t>• Tablet Portrait: 768 × 1024 | scale: 2.0 (Touch-enabled responsive breakpoint)</a:t>
            </a:r>
          </a:p>
          <a:p>
            <a:pPr>
              <a:defRPr sz="1050">
                <a:solidFill>
                  <a:srgbClr val="E2E8F0"/>
                </a:solidFill>
              </a:defRPr>
            </a:pPr>
            <a:r>
              <a:t>• Mobile Large: 414 × 896 | scale: 3.0 (iPhone Pro Max viewport)</a:t>
            </a:r>
          </a:p>
          <a:p>
            <a:pPr>
              <a:defRPr sz="1050">
                <a:solidFill>
                  <a:srgbClr val="E2E8F0"/>
                </a:solidFill>
              </a:defRPr>
            </a:pPr>
            <a:r>
              <a:t>• Mobile Standard: 375 × 667 | scale: 2.0 (Industry standard test baseline)</a:t>
            </a:r>
          </a:p>
          <a:p>
            <a:pPr>
              <a:defRPr sz="1050">
                <a:solidFill>
                  <a:srgbClr val="E2E8F0"/>
                </a:solidFill>
              </a:defRPr>
            </a:pPr>
            <a:r>
              <a:t>• to_playwright_context_options() converts configurations directly to browser contexts with touch, mobile user-agent, and device scale factors.</a:t>
            </a:r>
          </a:p>
        </p:txBody>
      </p:sp>
      <p:sp>
        <p:nvSpPr>
          <p:cNvPr id="9" name="Rounded Rectangle 8"/>
          <p:cNvSpPr/>
          <p:nvPr/>
        </p:nvSpPr>
        <p:spPr>
          <a:xfrm>
            <a:off x="6205118" y="1645920"/>
            <a:ext cx="5254142" cy="457200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3718" y="1828800"/>
            <a:ext cx="4796942" cy="365760"/>
          </a:xfrm>
          <a:prstGeom prst="rect">
            <a:avLst/>
          </a:prstGeom>
          <a:noFill/>
        </p:spPr>
        <p:txBody>
          <a:bodyPr wrap="square" lIns="0" tIns="0" rIns="0" bIns="0">
            <a:spAutoFit/>
          </a:bodyPr>
          <a:lstStyle/>
          <a:p>
            <a:pPr>
              <a:defRPr sz="1300" b="1">
                <a:solidFill>
                  <a:srgbClr val="818CF8"/>
                </a:solidFill>
              </a:defRPr>
            </a:pPr>
            <a:r>
              <a:t>2. Headless Capture &amp; Computed Style Extraction</a:t>
            </a:r>
          </a:p>
        </p:txBody>
      </p:sp>
      <p:sp>
        <p:nvSpPr>
          <p:cNvPr id="11" name="TextBox 10"/>
          <p:cNvSpPr txBox="1"/>
          <p:nvPr/>
        </p:nvSpPr>
        <p:spPr>
          <a:xfrm>
            <a:off x="6433718" y="2194560"/>
            <a:ext cx="4796942" cy="3840480"/>
          </a:xfrm>
          <a:prstGeom prst="rect">
            <a:avLst/>
          </a:prstGeom>
          <a:noFill/>
        </p:spPr>
        <p:txBody>
          <a:bodyPr wrap="square">
            <a:spAutoFit/>
          </a:bodyPr>
          <a:lstStyle/>
          <a:p>
            <a:pPr>
              <a:defRPr sz="1100" b="1">
                <a:solidFill>
                  <a:srgbClr val="FFFFFF"/>
                </a:solidFill>
              </a:defRPr>
            </a:pPr>
            <a:r>
              <a:t>The 'Eyes' of the System — Visual and Structural Data Extraction:</a:t>
            </a:r>
          </a:p>
          <a:p>
            <a:pPr>
              <a:defRPr sz="1050">
                <a:solidFill>
                  <a:srgbClr val="E2E8F0"/>
                </a:solidFill>
              </a:defRPr>
            </a:pPr>
            <a:r>
              <a:t>• Network-Idle Settling: Waits for network idle + 1500ms DOM stabilization to allow React/Vue dynamic components to hydrate completely.</a:t>
            </a:r>
          </a:p>
          <a:p>
            <a:pPr>
              <a:defRPr sz="1050">
                <a:solidFill>
                  <a:srgbClr val="E2E8F0"/>
                </a:solidFill>
              </a:defRPr>
            </a:pPr>
            <a:r>
              <a:t>• Dual-Mode Screenshotting: Viewport-first capture ensures crisp above-the-fold visibility; full-page scroll capture inspects entire layout.</a:t>
            </a:r>
          </a:p>
          <a:p>
            <a:pPr>
              <a:defRPr sz="1050">
                <a:solidFill>
                  <a:srgbClr val="E2E8F0"/>
                </a:solidFill>
              </a:defRPr>
            </a:pPr>
            <a:r>
              <a:t>• JavaScript In-Browser Probe: Injects JavaScript to query every text element's runtime window.getComputedStyle().</a:t>
            </a:r>
          </a:p>
          <a:p>
            <a:pPr>
              <a:defRPr sz="1050">
                <a:solidFill>
                  <a:srgbClr val="E2E8F0"/>
                </a:solidFill>
              </a:defRPr>
            </a:pPr>
            <a:r>
              <a:t>• Extracts resolved RGB/RGBA color, background-color, font-size, font-weight, exact bounding box (x, y, w, h), and unique CSS selector path.</a:t>
            </a:r>
          </a:p>
          <a:p>
            <a:pPr>
              <a:defRPr sz="1050">
                <a:solidFill>
                  <a:srgbClr val="E2E8F0"/>
                </a:solidFill>
              </a:defRPr>
            </a:pPr>
            <a:r>
              <a:t>• Returns strongly-typed AuditCapture and PageCapture objects with zero data loss.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38BDF8"/>
                </a:solidFill>
              </a:defRPr>
            </a:pPr>
            <a:r>
              <a:t>04 / PHASE 2: SYMBOLIC ENGINE</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FFFFF"/>
                </a:solidFill>
              </a:defRPr>
            </a:pPr>
            <a:r>
              <a:t>wcag_checker.py &amp; Deterministic Color Science</a:t>
            </a:r>
          </a:p>
        </p:txBody>
      </p:sp>
      <p:sp>
        <p:nvSpPr>
          <p:cNvPr id="5" name="TextBox 4"/>
          <p:cNvSpPr txBox="1"/>
          <p:nvPr/>
        </p:nvSpPr>
        <p:spPr>
          <a:xfrm>
            <a:off x="731520" y="1188720"/>
            <a:ext cx="10728655" cy="320040"/>
          </a:xfrm>
          <a:prstGeom prst="rect">
            <a:avLst/>
          </a:prstGeom>
          <a:noFill/>
        </p:spPr>
        <p:txBody>
          <a:bodyPr wrap="square" lIns="0" tIns="0" rIns="0" bIns="0">
            <a:spAutoFit/>
          </a:bodyPr>
          <a:lstStyle/>
          <a:p>
            <a:pPr>
              <a:defRPr sz="1100">
                <a:solidFill>
                  <a:srgbClr val="94A3B8"/>
                </a:solidFill>
              </a:defRPr>
            </a:pPr>
            <a:r>
              <a:t>Why AI should never do math: 100% deterministic, zero-hallucination W3C compliance algorithms.</a:t>
            </a:r>
          </a:p>
        </p:txBody>
      </p:sp>
      <p:sp>
        <p:nvSpPr>
          <p:cNvPr id="6" name="Rounded Rectangle 5"/>
          <p:cNvSpPr/>
          <p:nvPr/>
        </p:nvSpPr>
        <p:spPr>
          <a:xfrm>
            <a:off x="731520" y="1645920"/>
            <a:ext cx="5254142" cy="457200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796942" cy="365760"/>
          </a:xfrm>
          <a:prstGeom prst="rect">
            <a:avLst/>
          </a:prstGeom>
          <a:noFill/>
        </p:spPr>
        <p:txBody>
          <a:bodyPr wrap="square" lIns="0" tIns="0" rIns="0" bIns="0">
            <a:spAutoFit/>
          </a:bodyPr>
          <a:lstStyle/>
          <a:p>
            <a:pPr>
              <a:defRPr sz="1300" b="1">
                <a:solidFill>
                  <a:srgbClr val="34D399"/>
                </a:solidFill>
              </a:defRPr>
            </a:pPr>
            <a:r>
              <a:t>Mathematical Formulations &amp; Formulas</a:t>
            </a:r>
          </a:p>
        </p:txBody>
      </p:sp>
      <p:sp>
        <p:nvSpPr>
          <p:cNvPr id="8" name="TextBox 7"/>
          <p:cNvSpPr txBox="1"/>
          <p:nvPr/>
        </p:nvSpPr>
        <p:spPr>
          <a:xfrm>
            <a:off x="960120" y="2194560"/>
            <a:ext cx="4796942" cy="3840480"/>
          </a:xfrm>
          <a:prstGeom prst="rect">
            <a:avLst/>
          </a:prstGeom>
          <a:noFill/>
        </p:spPr>
        <p:txBody>
          <a:bodyPr wrap="square">
            <a:spAutoFit/>
          </a:bodyPr>
          <a:lstStyle/>
          <a:p>
            <a:pPr>
              <a:defRPr sz="1100" b="1">
                <a:solidFill>
                  <a:srgbClr val="38BDF8"/>
                </a:solidFill>
              </a:defRPr>
            </a:pPr>
            <a:r>
              <a:t>1. sRGB Channel Linearization Formula:</a:t>
            </a:r>
          </a:p>
          <a:p>
            <a:pPr>
              <a:defRPr sz="1000">
                <a:solidFill>
                  <a:srgbClr val="E2E8F0"/>
                </a:solidFill>
              </a:defRPr>
            </a:pPr>
            <a:r>
              <a:t>Converts gamma-compressed 8-bit sRGB (0-255) to linear light space:</a:t>
            </a:r>
            <a:br/>
            <a:r>
              <a:t>  C_srgb = C / 255.0</a:t>
            </a:r>
            <a:br/>
            <a:r>
              <a:t>  If C_srgb &lt;= 0.04045  -&gt;  C_linear = C_srgb / 12.92</a:t>
            </a:r>
            <a:br/>
            <a:r>
              <a:t>  Else                 -&gt;  C_linear = ((C_srgb + 0.055) / 1.055) ^ 2.4</a:t>
            </a:r>
          </a:p>
          <a:p>
            <a:pPr>
              <a:defRPr sz="1100" b="1">
                <a:solidFill>
                  <a:srgbClr val="38BDF8"/>
                </a:solidFill>
              </a:defRPr>
            </a:pPr>
            <a:r>
              <a:t>2. W3C Relative Luminance (L):</a:t>
            </a:r>
          </a:p>
          <a:p>
            <a:pPr>
              <a:defRPr sz="1000">
                <a:solidFill>
                  <a:srgbClr val="E2E8F0"/>
                </a:solidFill>
              </a:defRPr>
            </a:pPr>
            <a:r>
              <a:t>Accounts for human photopic spectral sensitivity (green peak):</a:t>
            </a:r>
            <a:br/>
            <a:r>
              <a:t>  L = 0.2126 * R_linear + 0.7152 * G_linear + 0.0722 * B_linear</a:t>
            </a:r>
          </a:p>
          <a:p>
            <a:pPr>
              <a:defRPr sz="1100" b="1">
                <a:solidFill>
                  <a:srgbClr val="38BDF8"/>
                </a:solidFill>
              </a:defRPr>
            </a:pPr>
            <a:r>
              <a:t>3. Contrast Ratio Formula (C):</a:t>
            </a:r>
          </a:p>
          <a:p>
            <a:pPr>
              <a:defRPr sz="1000">
                <a:solidFill>
                  <a:srgbClr val="E2E8F0"/>
                </a:solidFill>
              </a:defRPr>
            </a:pPr>
            <a:r>
              <a:t>The mathematical definition of contrast between two surfaces:</a:t>
            </a:r>
            <a:br/>
            <a:r>
              <a:t>  C = (L1 + 0.05) / (L2 + 0.05)   where L1 &gt;= L2</a:t>
            </a:r>
            <a:br/>
            <a:r>
              <a:t>  Range: 1.0 : 1 (no contrast) to 21.0 : 1 (pure black on white)</a:t>
            </a:r>
          </a:p>
        </p:txBody>
      </p:sp>
      <p:sp>
        <p:nvSpPr>
          <p:cNvPr id="9" name="Rounded Rectangle 8"/>
          <p:cNvSpPr/>
          <p:nvPr/>
        </p:nvSpPr>
        <p:spPr>
          <a:xfrm>
            <a:off x="6205118" y="1645920"/>
            <a:ext cx="5254142" cy="457200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3718" y="1828800"/>
            <a:ext cx="4796942" cy="365760"/>
          </a:xfrm>
          <a:prstGeom prst="rect">
            <a:avLst/>
          </a:prstGeom>
          <a:noFill/>
        </p:spPr>
        <p:txBody>
          <a:bodyPr wrap="square" lIns="0" tIns="0" rIns="0" bIns="0">
            <a:spAutoFit/>
          </a:bodyPr>
          <a:lstStyle/>
          <a:p>
            <a:pPr>
              <a:defRPr sz="1300" b="1">
                <a:solidFill>
                  <a:srgbClr val="FBBF24"/>
                </a:solidFill>
              </a:defRPr>
            </a:pPr>
            <a:r>
              <a:t>WCAG Criteria &amp; CVD Simulation Engine</a:t>
            </a:r>
          </a:p>
        </p:txBody>
      </p:sp>
      <p:sp>
        <p:nvSpPr>
          <p:cNvPr id="11" name="TextBox 10"/>
          <p:cNvSpPr txBox="1"/>
          <p:nvPr/>
        </p:nvSpPr>
        <p:spPr>
          <a:xfrm>
            <a:off x="6433718" y="2194560"/>
            <a:ext cx="4796942" cy="3840480"/>
          </a:xfrm>
          <a:prstGeom prst="rect">
            <a:avLst/>
          </a:prstGeom>
          <a:noFill/>
        </p:spPr>
        <p:txBody>
          <a:bodyPr wrap="square">
            <a:spAutoFit/>
          </a:bodyPr>
          <a:lstStyle/>
          <a:p>
            <a:pPr>
              <a:defRPr sz="1100" b="1">
                <a:solidFill>
                  <a:srgbClr val="FBBF24"/>
                </a:solidFill>
              </a:defRPr>
            </a:pPr>
            <a:r>
              <a:t>WCAG 2.1 AA Compliance Thresholds:</a:t>
            </a:r>
          </a:p>
          <a:p>
            <a:pPr>
              <a:defRPr sz="1000">
                <a:solidFill>
                  <a:srgbClr val="E2E8F0"/>
                </a:solidFill>
              </a:defRPr>
            </a:pPr>
            <a:r>
              <a:t>• Normal Text: Minimum 4.5:1 contrast ratio.</a:t>
            </a:r>
            <a:br/>
            <a:r>
              <a:t>• Large Text (&gt;=18pt or &gt;=14pt bold): Minimum 3.0:1 ratio.</a:t>
            </a:r>
          </a:p>
          <a:p>
            <a:pPr>
              <a:defRPr sz="1100" b="1">
                <a:solidFill>
                  <a:srgbClr val="FBBF24"/>
                </a:solidFill>
              </a:defRPr>
            </a:pPr>
            <a:r>
              <a:t>WCAG 2.1 AAA Enhanced Contrast:</a:t>
            </a:r>
          </a:p>
          <a:p>
            <a:pPr>
              <a:defRPr sz="1000">
                <a:solidFill>
                  <a:srgbClr val="E2E8F0"/>
                </a:solidFill>
              </a:defRPr>
            </a:pPr>
            <a:r>
              <a:t>• Normal Text: Minimum 7.0:1 | Large Text: Minimum 4.5:1.</a:t>
            </a:r>
          </a:p>
          <a:p>
            <a:pPr>
              <a:defRPr sz="1100" b="1">
                <a:solidFill>
                  <a:srgbClr val="FBBF24"/>
                </a:solidFill>
              </a:defRPr>
            </a:pPr>
            <a:r>
              <a:t>Brettel/Vienot Color Vision Deficiency (CVD):</a:t>
            </a:r>
          </a:p>
          <a:p>
            <a:pPr>
              <a:defRPr sz="1000">
                <a:solidFill>
                  <a:srgbClr val="E2E8F0"/>
                </a:solidFill>
              </a:defRPr>
            </a:pPr>
            <a:r>
              <a:t>• Protanopia (Red-blind), Deuteranopia (Green-blind), Tritanopia (Blue-blind).</a:t>
            </a:r>
            <a:br/>
            <a:r>
              <a:t>• Simulates LMS cone response matrices using NumPy transformations.</a:t>
            </a:r>
          </a:p>
          <a:p>
            <a:pPr>
              <a:defRPr sz="1100" b="1">
                <a:solidFill>
                  <a:srgbClr val="FBBF24"/>
                </a:solidFill>
              </a:defRPr>
            </a:pPr>
            <a:r>
              <a:t>Algorithmic Color Fixer (suggest_fix_color):</a:t>
            </a:r>
          </a:p>
          <a:p>
            <a:pPr>
              <a:defRPr sz="1000">
                <a:solidFill>
                  <a:srgbClr val="E2E8F0"/>
                </a:solidFill>
              </a:defRPr>
            </a:pPr>
            <a:r>
              <a:t>• Iteratively adjusts luminance in HSL space until mathematical threshold is satisfied with minimal perceptual delta.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38BDF8"/>
                </a:solidFill>
              </a:defRPr>
            </a:pPr>
            <a:r>
              <a:t>05 / PHASE 3: NEURAL ENGINE</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FFFFF"/>
                </a:solidFill>
              </a:defRPr>
            </a:pPr>
            <a:r>
              <a:t>Multimodal VLM Spatial Reasoning &amp; Fallback Architecture</a:t>
            </a:r>
          </a:p>
        </p:txBody>
      </p:sp>
      <p:sp>
        <p:nvSpPr>
          <p:cNvPr id="5" name="TextBox 4"/>
          <p:cNvSpPr txBox="1"/>
          <p:nvPr/>
        </p:nvSpPr>
        <p:spPr>
          <a:xfrm>
            <a:off x="731520" y="1188720"/>
            <a:ext cx="10728655" cy="320040"/>
          </a:xfrm>
          <a:prstGeom prst="rect">
            <a:avLst/>
          </a:prstGeom>
          <a:noFill/>
        </p:spPr>
        <p:txBody>
          <a:bodyPr wrap="square" lIns="0" tIns="0" rIns="0" bIns="0">
            <a:spAutoFit/>
          </a:bodyPr>
          <a:lstStyle/>
          <a:p>
            <a:pPr>
              <a:defRPr sz="1100">
                <a:solidFill>
                  <a:srgbClr val="94A3B8"/>
                </a:solidFill>
              </a:defRPr>
            </a:pPr>
            <a:r>
              <a:t>Leveraging Gemini vision models for visual-to-code spatial grounding and resilient API orchestration.</a:t>
            </a:r>
          </a:p>
        </p:txBody>
      </p:sp>
      <p:sp>
        <p:nvSpPr>
          <p:cNvPr id="6" name="Rounded Rectangle 5"/>
          <p:cNvSpPr/>
          <p:nvPr/>
        </p:nvSpPr>
        <p:spPr>
          <a:xfrm>
            <a:off x="731520" y="1645920"/>
            <a:ext cx="5254142" cy="457200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796942" cy="365760"/>
          </a:xfrm>
          <a:prstGeom prst="rect">
            <a:avLst/>
          </a:prstGeom>
          <a:noFill/>
        </p:spPr>
        <p:txBody>
          <a:bodyPr wrap="square" lIns="0" tIns="0" rIns="0" bIns="0">
            <a:spAutoFit/>
          </a:bodyPr>
          <a:lstStyle/>
          <a:p>
            <a:pPr>
              <a:defRPr sz="1300" b="1">
                <a:solidFill>
                  <a:srgbClr val="818CF8"/>
                </a:solidFill>
              </a:defRPr>
            </a:pPr>
            <a:r>
              <a:t>1. Multimodal Spatial Reasoning</a:t>
            </a:r>
          </a:p>
        </p:txBody>
      </p:sp>
      <p:sp>
        <p:nvSpPr>
          <p:cNvPr id="8" name="TextBox 7"/>
          <p:cNvSpPr txBox="1"/>
          <p:nvPr/>
        </p:nvSpPr>
        <p:spPr>
          <a:xfrm>
            <a:off x="960120" y="2194560"/>
            <a:ext cx="4796942" cy="3840480"/>
          </a:xfrm>
          <a:prstGeom prst="rect">
            <a:avLst/>
          </a:prstGeom>
          <a:noFill/>
        </p:spPr>
        <p:txBody>
          <a:bodyPr wrap="square">
            <a:spAutoFit/>
          </a:bodyPr>
          <a:lstStyle/>
          <a:p>
            <a:pPr>
              <a:defRPr sz="1100" b="1">
                <a:solidFill>
                  <a:srgbClr val="38BDF8"/>
                </a:solidFill>
              </a:defRPr>
            </a:pPr>
            <a:r>
              <a:t>Simultaneous Multi-Tensor Ingestion:</a:t>
            </a:r>
          </a:p>
          <a:p>
            <a:pPr>
              <a:defRPr sz="1000">
                <a:solidFill>
                  <a:srgbClr val="E2E8F0"/>
                </a:solidFill>
              </a:defRPr>
            </a:pPr>
            <a:r>
              <a:t>Gemini processes high-resolution screenshot pixel buffers and sanitized HTML AST tokens simultaneously in the same attention context.</a:t>
            </a:r>
          </a:p>
          <a:p>
            <a:pPr>
              <a:defRPr sz="1100" b="1">
                <a:solidFill>
                  <a:srgbClr val="38BDF8"/>
                </a:solidFill>
              </a:defRPr>
            </a:pPr>
            <a:r>
              <a:t>Pixel-to-Selector Spatial Mapping:</a:t>
            </a:r>
          </a:p>
          <a:p>
            <a:pPr>
              <a:defRPr sz="1000">
                <a:solidFill>
                  <a:srgbClr val="E2E8F0"/>
                </a:solidFill>
              </a:defRPr>
            </a:pPr>
            <a:r>
              <a:t>When text clips or buttons overlap, the VLM correlates visual coordinates (x, y) with the corresponding DOM node selector path in the AST.</a:t>
            </a:r>
          </a:p>
          <a:p>
            <a:pPr>
              <a:defRPr sz="1100" b="1">
                <a:solidFill>
                  <a:srgbClr val="38BDF8"/>
                </a:solidFill>
              </a:defRPr>
            </a:pPr>
            <a:r>
              <a:t>Semantic UI Comprehension:</a:t>
            </a:r>
          </a:p>
          <a:p>
            <a:pPr>
              <a:defRPr sz="1000">
                <a:solidFill>
                  <a:srgbClr val="E2E8F0"/>
                </a:solidFill>
              </a:defRPr>
            </a:pPr>
            <a:r>
              <a:t>Understands contextual aesthetics: recognizes modal backdrops, floating navigation bars, hero banners, and brand color palettes.</a:t>
            </a:r>
          </a:p>
          <a:p>
            <a:pPr>
              <a:defRPr sz="1100" b="1">
                <a:solidFill>
                  <a:srgbClr val="38BDF8"/>
                </a:solidFill>
              </a:defRPr>
            </a:pPr>
            <a:r>
              <a:t>Targeted Remediation Output:</a:t>
            </a:r>
          </a:p>
          <a:p>
            <a:pPr>
              <a:defRPr sz="1000">
                <a:solidFill>
                  <a:srgbClr val="E2E8F0"/>
                </a:solidFill>
              </a:defRPr>
            </a:pPr>
            <a:r>
              <a:t>Outputs structured JSON containing exact CSS property changes scoped strictly to the offending selector (e.g., .nav-item { color: #1e293b; }).</a:t>
            </a:r>
          </a:p>
        </p:txBody>
      </p:sp>
      <p:sp>
        <p:nvSpPr>
          <p:cNvPr id="9" name="Rounded Rectangle 8"/>
          <p:cNvSpPr/>
          <p:nvPr/>
        </p:nvSpPr>
        <p:spPr>
          <a:xfrm>
            <a:off x="6205118" y="1645920"/>
            <a:ext cx="5254142" cy="457200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3718" y="1828800"/>
            <a:ext cx="4796942" cy="365760"/>
          </a:xfrm>
          <a:prstGeom prst="rect">
            <a:avLst/>
          </a:prstGeom>
          <a:noFill/>
        </p:spPr>
        <p:txBody>
          <a:bodyPr wrap="square" lIns="0" tIns="0" rIns="0" bIns="0">
            <a:spAutoFit/>
          </a:bodyPr>
          <a:lstStyle/>
          <a:p>
            <a:pPr>
              <a:defRPr sz="1300" b="1">
                <a:solidFill>
                  <a:srgbClr val="C084FC"/>
                </a:solidFill>
              </a:defRPr>
            </a:pPr>
            <a:r>
              <a:t>2. Resilient Model Fallback Waterfall</a:t>
            </a:r>
          </a:p>
        </p:txBody>
      </p:sp>
      <p:sp>
        <p:nvSpPr>
          <p:cNvPr id="11" name="TextBox 10"/>
          <p:cNvSpPr txBox="1"/>
          <p:nvPr/>
        </p:nvSpPr>
        <p:spPr>
          <a:xfrm>
            <a:off x="6433718" y="2194560"/>
            <a:ext cx="4796942" cy="3840480"/>
          </a:xfrm>
          <a:prstGeom prst="rect">
            <a:avLst/>
          </a:prstGeom>
          <a:noFill/>
        </p:spPr>
        <p:txBody>
          <a:bodyPr wrap="square">
            <a:spAutoFit/>
          </a:bodyPr>
          <a:lstStyle/>
          <a:p>
            <a:pPr>
              <a:defRPr sz="1100" b="1">
                <a:solidFill>
                  <a:srgbClr val="FBBF24"/>
                </a:solidFill>
              </a:defRPr>
            </a:pPr>
            <a:r>
              <a:t>The Cloud API Reliability Challenge:</a:t>
            </a:r>
          </a:p>
          <a:p>
            <a:pPr>
              <a:defRPr sz="1000">
                <a:solidFill>
                  <a:srgbClr val="E2E8F0"/>
                </a:solidFill>
              </a:defRPr>
            </a:pPr>
            <a:r>
              <a:t>Primary models frequently encounter 503 ServiceUnavailable (high demand) or 429 QuotaExceeded (Free Tier 5 RPM limit).</a:t>
            </a:r>
          </a:p>
          <a:p>
            <a:pPr>
              <a:defRPr sz="1100" b="1">
                <a:solidFill>
                  <a:srgbClr val="FBBF24"/>
                </a:solidFill>
              </a:defRPr>
            </a:pPr>
            <a:r>
              <a:t>Automatic Multi-Model Waterfall Chain:</a:t>
            </a:r>
          </a:p>
          <a:p>
            <a:pPr>
              <a:defRPr sz="1000">
                <a:solidFill>
                  <a:srgbClr val="E2E8F0"/>
                </a:solidFill>
              </a:defRPr>
            </a:pPr>
            <a:r>
              <a:t>1. gemini-3.5-flash-lite  (Primary: Ultra-fast 2.1s inference)</a:t>
            </a:r>
            <a:br/>
            <a:r>
              <a:t>2. gemini-flash-lite-latest (Secondary fallback)</a:t>
            </a:r>
            <a:br/>
            <a:r>
              <a:t>3. gemini-3.1-flash-lite   (Tertiary fallback)</a:t>
            </a:r>
            <a:br/>
            <a:r>
              <a:t>4. gemini-flash-latest     (Quaternary fallback)</a:t>
            </a:r>
            <a:br/>
            <a:r>
              <a:t>5. gemini-3.5-flash        (Final fallback tier)</a:t>
            </a:r>
          </a:p>
          <a:p>
            <a:pPr>
              <a:defRPr sz="1100" b="1">
                <a:solidFill>
                  <a:srgbClr val="FBBF24"/>
                </a:solidFill>
              </a:defRPr>
            </a:pPr>
            <a:r>
              <a:t>Zero-Downtime Resilience:</a:t>
            </a:r>
          </a:p>
          <a:p>
            <a:pPr>
              <a:defRPr sz="1000">
                <a:solidFill>
                  <a:srgbClr val="E2E8F0"/>
                </a:solidFill>
              </a:defRPr>
            </a:pPr>
            <a:r>
              <a:t>If any model fails, the system seamlessly cascades to the next model in milliseconds without dropping the user's audit request.</a:t>
            </a:r>
          </a:p>
          <a:p>
            <a:pPr>
              <a:defRPr sz="1100" b="1">
                <a:solidFill>
                  <a:srgbClr val="FBBF24"/>
                </a:solidFill>
              </a:defRPr>
            </a:pPr>
            <a:r>
              <a:t>Proven Benchmark:</a:t>
            </a:r>
          </a:p>
          <a:p>
            <a:pPr>
              <a:defRPr sz="1000">
                <a:solidFill>
                  <a:srgbClr val="E2E8F0"/>
                </a:solidFill>
              </a:defRPr>
            </a:pPr>
            <a:r>
              <a:t>Achieved 2.13s multimodal execution with 100% uptime during peak testing loads.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38BDF8"/>
                </a:solidFill>
              </a:defRPr>
            </a:pPr>
            <a:r>
              <a:t>06 / AGENTIC ORCHESTRATION</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FFFFF"/>
                </a:solidFill>
              </a:defRPr>
            </a:pPr>
            <a:r>
              <a:t>The ReAct Loop: Reason, Act, Observe, and Synthesize</a:t>
            </a:r>
          </a:p>
        </p:txBody>
      </p:sp>
      <p:sp>
        <p:nvSpPr>
          <p:cNvPr id="5" name="TextBox 4"/>
          <p:cNvSpPr txBox="1"/>
          <p:nvPr/>
        </p:nvSpPr>
        <p:spPr>
          <a:xfrm>
            <a:off x="731520" y="1188720"/>
            <a:ext cx="10728655" cy="320040"/>
          </a:xfrm>
          <a:prstGeom prst="rect">
            <a:avLst/>
          </a:prstGeom>
          <a:noFill/>
        </p:spPr>
        <p:txBody>
          <a:bodyPr wrap="square" lIns="0" tIns="0" rIns="0" bIns="0">
            <a:spAutoFit/>
          </a:bodyPr>
          <a:lstStyle/>
          <a:p>
            <a:pPr>
              <a:defRPr sz="1100">
                <a:solidFill>
                  <a:srgbClr val="94A3B8"/>
                </a:solidFill>
              </a:defRPr>
            </a:pPr>
            <a:r>
              <a:t>Proving VisionGuard AI is an autonomous agentic system, not a simple prompt wrapper.</a:t>
            </a:r>
          </a:p>
        </p:txBody>
      </p:sp>
      <p:sp>
        <p:nvSpPr>
          <p:cNvPr id="6" name="Rounded Rectangle 5"/>
          <p:cNvSpPr/>
          <p:nvPr/>
        </p:nvSpPr>
        <p:spPr>
          <a:xfrm>
            <a:off x="731520" y="1645920"/>
            <a:ext cx="2542032" cy="457200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084832" cy="365760"/>
          </a:xfrm>
          <a:prstGeom prst="rect">
            <a:avLst/>
          </a:prstGeom>
          <a:noFill/>
        </p:spPr>
        <p:txBody>
          <a:bodyPr wrap="square" lIns="0" tIns="0" rIns="0" bIns="0">
            <a:spAutoFit/>
          </a:bodyPr>
          <a:lstStyle/>
          <a:p>
            <a:pPr>
              <a:defRPr sz="1300" b="1">
                <a:solidFill>
                  <a:srgbClr val="F87171"/>
                </a:solidFill>
              </a:defRPr>
            </a:pPr>
            <a:r>
              <a:t>Step 1: Reason</a:t>
            </a:r>
          </a:p>
        </p:txBody>
      </p:sp>
      <p:sp>
        <p:nvSpPr>
          <p:cNvPr id="8" name="TextBox 7"/>
          <p:cNvSpPr txBox="1"/>
          <p:nvPr/>
        </p:nvSpPr>
        <p:spPr>
          <a:xfrm>
            <a:off x="868680" y="2148840"/>
            <a:ext cx="2267712" cy="3931920"/>
          </a:xfrm>
          <a:prstGeom prst="rect">
            <a:avLst/>
          </a:prstGeom>
          <a:noFill/>
        </p:spPr>
        <p:txBody>
          <a:bodyPr wrap="square">
            <a:spAutoFit/>
          </a:bodyPr>
          <a:lstStyle/>
          <a:p>
            <a:pPr>
              <a:defRPr sz="1100" b="1">
                <a:solidFill>
                  <a:srgbClr val="FFFFFF"/>
                </a:solidFill>
              </a:defRPr>
            </a:pPr>
            <a:r>
              <a:t>Visual &amp; Math Defect Detection</a:t>
            </a:r>
          </a:p>
          <a:p>
            <a:pPr>
              <a:defRPr sz="1000">
                <a:solidFill>
                  <a:srgbClr val="94A3B8"/>
                </a:solidFill>
              </a:defRPr>
            </a:pPr>
            <a:r>
              <a:t>• Analyzes screenshot and WCAG diagnostic JSON.</a:t>
            </a:r>
          </a:p>
          <a:p>
            <a:pPr>
              <a:defRPr sz="1000">
                <a:solidFill>
                  <a:srgbClr val="94A3B8"/>
                </a:solidFill>
              </a:defRPr>
            </a:pPr>
            <a:r>
              <a:t>• Identifies specific accessibility failures.</a:t>
            </a:r>
          </a:p>
          <a:p>
            <a:pPr>
              <a:defRPr sz="1000">
                <a:solidFill>
                  <a:srgbClr val="94A3B8"/>
                </a:solidFill>
              </a:defRPr>
            </a:pPr>
            <a:r>
              <a:t>• Evaluates severity (Critical, High, Medium, Low).</a:t>
            </a:r>
          </a:p>
          <a:p>
            <a:pPr>
              <a:defRPr sz="1000">
                <a:solidFill>
                  <a:srgbClr val="94A3B8"/>
                </a:solidFill>
              </a:defRPr>
            </a:pPr>
            <a:r>
              <a:t>• Determines visual context (background, typography).</a:t>
            </a:r>
          </a:p>
        </p:txBody>
      </p:sp>
      <p:sp>
        <p:nvSpPr>
          <p:cNvPr id="9" name="Rounded Rectangle 8"/>
          <p:cNvSpPr/>
          <p:nvPr/>
        </p:nvSpPr>
        <p:spPr>
          <a:xfrm>
            <a:off x="3456432" y="1645920"/>
            <a:ext cx="2542032" cy="457200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85032" y="1828800"/>
            <a:ext cx="2084832" cy="365760"/>
          </a:xfrm>
          <a:prstGeom prst="rect">
            <a:avLst/>
          </a:prstGeom>
          <a:noFill/>
        </p:spPr>
        <p:txBody>
          <a:bodyPr wrap="square" lIns="0" tIns="0" rIns="0" bIns="0">
            <a:spAutoFit/>
          </a:bodyPr>
          <a:lstStyle/>
          <a:p>
            <a:pPr>
              <a:defRPr sz="1300" b="1">
                <a:solidFill>
                  <a:srgbClr val="FBBF24"/>
                </a:solidFill>
              </a:defRPr>
            </a:pPr>
            <a:r>
              <a:t>Step 2: Act</a:t>
            </a:r>
          </a:p>
        </p:txBody>
      </p:sp>
      <p:sp>
        <p:nvSpPr>
          <p:cNvPr id="11" name="TextBox 10"/>
          <p:cNvSpPr txBox="1"/>
          <p:nvPr/>
        </p:nvSpPr>
        <p:spPr>
          <a:xfrm>
            <a:off x="3593592" y="2148840"/>
            <a:ext cx="2267712" cy="3931920"/>
          </a:xfrm>
          <a:prstGeom prst="rect">
            <a:avLst/>
          </a:prstGeom>
          <a:noFill/>
        </p:spPr>
        <p:txBody>
          <a:bodyPr wrap="square">
            <a:spAutoFit/>
          </a:bodyPr>
          <a:lstStyle/>
          <a:p>
            <a:pPr>
              <a:defRPr sz="1100" b="1">
                <a:solidFill>
                  <a:srgbClr val="FFFFFF"/>
                </a:solidFill>
              </a:defRPr>
            </a:pPr>
            <a:r>
              <a:t>DOM Selector Isolation</a:t>
            </a:r>
          </a:p>
          <a:p>
            <a:pPr>
              <a:defRPr sz="1000">
                <a:solidFill>
                  <a:srgbClr val="94A3B8"/>
                </a:solidFill>
              </a:defRPr>
            </a:pPr>
            <a:r>
              <a:t>• Executes AST parsing via tinycss2 &amp; BeautifulSoup.</a:t>
            </a:r>
          </a:p>
          <a:p>
            <a:pPr>
              <a:defRPr sz="1000">
                <a:solidFill>
                  <a:srgbClr val="94A3B8"/>
                </a:solidFill>
              </a:defRPr>
            </a:pPr>
            <a:r>
              <a:t>• Traverses DOM tree to isolate exact node.</a:t>
            </a:r>
          </a:p>
          <a:p>
            <a:pPr>
              <a:defRPr sz="1000">
                <a:solidFill>
                  <a:srgbClr val="94A3B8"/>
                </a:solidFill>
              </a:defRPr>
            </a:pPr>
            <a:r>
              <a:t>• Resolves inheritance and specificity cascade.</a:t>
            </a:r>
          </a:p>
          <a:p>
            <a:pPr>
              <a:defRPr sz="1000">
                <a:solidFill>
                  <a:srgbClr val="94A3B8"/>
                </a:solidFill>
              </a:defRPr>
            </a:pPr>
            <a:r>
              <a:t>• Avoids global unintended styling side-effects.</a:t>
            </a:r>
          </a:p>
        </p:txBody>
      </p:sp>
      <p:sp>
        <p:nvSpPr>
          <p:cNvPr id="12" name="Rounded Rectangle 11"/>
          <p:cNvSpPr/>
          <p:nvPr/>
        </p:nvSpPr>
        <p:spPr>
          <a:xfrm>
            <a:off x="6181344" y="1645920"/>
            <a:ext cx="2542032" cy="457200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1828800"/>
            <a:ext cx="2084832" cy="365760"/>
          </a:xfrm>
          <a:prstGeom prst="rect">
            <a:avLst/>
          </a:prstGeom>
          <a:noFill/>
        </p:spPr>
        <p:txBody>
          <a:bodyPr wrap="square" lIns="0" tIns="0" rIns="0" bIns="0">
            <a:spAutoFit/>
          </a:bodyPr>
          <a:lstStyle/>
          <a:p>
            <a:pPr>
              <a:defRPr sz="1300" b="1">
                <a:solidFill>
                  <a:srgbClr val="38BDF8"/>
                </a:solidFill>
              </a:defRPr>
            </a:pPr>
            <a:r>
              <a:t>Step 3: Observe</a:t>
            </a:r>
          </a:p>
        </p:txBody>
      </p:sp>
      <p:sp>
        <p:nvSpPr>
          <p:cNvPr id="14" name="TextBox 13"/>
          <p:cNvSpPr txBox="1"/>
          <p:nvPr/>
        </p:nvSpPr>
        <p:spPr>
          <a:xfrm>
            <a:off x="6318504" y="2148840"/>
            <a:ext cx="2267712" cy="3931920"/>
          </a:xfrm>
          <a:prstGeom prst="rect">
            <a:avLst/>
          </a:prstGeom>
          <a:noFill/>
        </p:spPr>
        <p:txBody>
          <a:bodyPr wrap="square">
            <a:spAutoFit/>
          </a:bodyPr>
          <a:lstStyle/>
          <a:p>
            <a:pPr>
              <a:defRPr sz="1100" b="1">
                <a:solidFill>
                  <a:srgbClr val="FFFFFF"/>
                </a:solidFill>
              </a:defRPr>
            </a:pPr>
            <a:r>
              <a:t>Root Cause Diagnosis</a:t>
            </a:r>
          </a:p>
          <a:p>
            <a:pPr>
              <a:defRPr sz="1000">
                <a:solidFill>
                  <a:srgbClr val="94A3B8"/>
                </a:solidFill>
              </a:defRPr>
            </a:pPr>
            <a:r>
              <a:t>• Inspects parent container bounding boxes.</a:t>
            </a:r>
          </a:p>
          <a:p>
            <a:pPr>
              <a:defRPr sz="1000">
                <a:solidFill>
                  <a:srgbClr val="94A3B8"/>
                </a:solidFill>
              </a:defRPr>
            </a:pPr>
            <a:r>
              <a:t>• Detects overflow:hidden or display:flex clipping.</a:t>
            </a:r>
          </a:p>
          <a:p>
            <a:pPr>
              <a:defRPr sz="1000">
                <a:solidFill>
                  <a:srgbClr val="94A3B8"/>
                </a:solidFill>
              </a:defRPr>
            </a:pPr>
            <a:r>
              <a:t>• Analyzes dynamic transparency (RGBA alpha values).</a:t>
            </a:r>
          </a:p>
          <a:p>
            <a:pPr>
              <a:defRPr sz="1000">
                <a:solidFill>
                  <a:srgbClr val="94A3B8"/>
                </a:solidFill>
              </a:defRPr>
            </a:pPr>
            <a:r>
              <a:t>• Prepares surgical CSS override strategy.</a:t>
            </a:r>
          </a:p>
        </p:txBody>
      </p:sp>
      <p:sp>
        <p:nvSpPr>
          <p:cNvPr id="15" name="Rounded Rectangle 14"/>
          <p:cNvSpPr/>
          <p:nvPr/>
        </p:nvSpPr>
        <p:spPr>
          <a:xfrm>
            <a:off x="8906256" y="1645920"/>
            <a:ext cx="2542032" cy="457200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1828800"/>
            <a:ext cx="2084832" cy="365760"/>
          </a:xfrm>
          <a:prstGeom prst="rect">
            <a:avLst/>
          </a:prstGeom>
          <a:noFill/>
        </p:spPr>
        <p:txBody>
          <a:bodyPr wrap="square" lIns="0" tIns="0" rIns="0" bIns="0">
            <a:spAutoFit/>
          </a:bodyPr>
          <a:lstStyle/>
          <a:p>
            <a:pPr>
              <a:defRPr sz="1300" b="1">
                <a:solidFill>
                  <a:srgbClr val="34D399"/>
                </a:solidFill>
              </a:defRPr>
            </a:pPr>
            <a:r>
              <a:t>Step 4: Synthesize</a:t>
            </a:r>
          </a:p>
        </p:txBody>
      </p:sp>
      <p:sp>
        <p:nvSpPr>
          <p:cNvPr id="17" name="TextBox 16"/>
          <p:cNvSpPr txBox="1"/>
          <p:nvPr/>
        </p:nvSpPr>
        <p:spPr>
          <a:xfrm>
            <a:off x="9043416" y="2148840"/>
            <a:ext cx="2267712" cy="3931920"/>
          </a:xfrm>
          <a:prstGeom prst="rect">
            <a:avLst/>
          </a:prstGeom>
          <a:noFill/>
        </p:spPr>
        <p:txBody>
          <a:bodyPr wrap="square">
            <a:spAutoFit/>
          </a:bodyPr>
          <a:lstStyle/>
          <a:p>
            <a:pPr>
              <a:defRPr sz="1100" b="1">
                <a:solidFill>
                  <a:srgbClr val="FFFFFF"/>
                </a:solidFill>
              </a:defRPr>
            </a:pPr>
            <a:r>
              <a:t>Scoped Patch Generation</a:t>
            </a:r>
          </a:p>
          <a:p>
            <a:pPr>
              <a:defRPr sz="1000">
                <a:solidFill>
                  <a:srgbClr val="94A3B8"/>
                </a:solidFill>
              </a:defRPr>
            </a:pPr>
            <a:r>
              <a:t>• Synthesizes minimal-footprint CSS patch.</a:t>
            </a:r>
          </a:p>
          <a:p>
            <a:pPr>
              <a:defRPr sz="1000">
                <a:solidFill>
                  <a:srgbClr val="94A3B8"/>
                </a:solidFill>
              </a:defRPr>
            </a:pPr>
            <a:r>
              <a:t>• Adds ARIA labels &amp; role attributes.</a:t>
            </a:r>
          </a:p>
          <a:p>
            <a:pPr>
              <a:defRPr sz="1000">
                <a:solidFill>
                  <a:srgbClr val="94A3B8"/>
                </a:solidFill>
              </a:defRPr>
            </a:pPr>
            <a:r>
              <a:t>• Formats patch as valid, injectable stylesheet.</a:t>
            </a:r>
          </a:p>
          <a:p>
            <a:pPr>
              <a:defRPr sz="1000">
                <a:solidFill>
                  <a:srgbClr val="94A3B8"/>
                </a:solidFill>
              </a:defRPr>
            </a:pPr>
            <a:r>
              <a:t>• Dispatches patch to live sandbox verification.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38BDF8"/>
                </a:solidFill>
              </a:defRPr>
            </a:pPr>
            <a:r>
              <a:t>07 / SELF-CORRECTION ENGINE</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FFFFF"/>
                </a:solidFill>
              </a:defRPr>
            </a:pPr>
            <a:r>
              <a:t>sandbox_injector.py &amp; The Closed-Loop Reflection Cycle</a:t>
            </a:r>
          </a:p>
        </p:txBody>
      </p:sp>
      <p:sp>
        <p:nvSpPr>
          <p:cNvPr id="5" name="TextBox 4"/>
          <p:cNvSpPr txBox="1"/>
          <p:nvPr/>
        </p:nvSpPr>
        <p:spPr>
          <a:xfrm>
            <a:off x="731520" y="1188720"/>
            <a:ext cx="10728655" cy="320040"/>
          </a:xfrm>
          <a:prstGeom prst="rect">
            <a:avLst/>
          </a:prstGeom>
          <a:noFill/>
        </p:spPr>
        <p:txBody>
          <a:bodyPr wrap="square" lIns="0" tIns="0" rIns="0" bIns="0">
            <a:spAutoFit/>
          </a:bodyPr>
          <a:lstStyle/>
          <a:p>
            <a:pPr>
              <a:defRPr sz="1100">
                <a:solidFill>
                  <a:srgbClr val="94A3B8"/>
                </a:solidFill>
              </a:defRPr>
            </a:pPr>
            <a:r>
              <a:t>Automated in-browser verification that tests AI patches before human developer review.</a:t>
            </a:r>
          </a:p>
        </p:txBody>
      </p:sp>
      <p:sp>
        <p:nvSpPr>
          <p:cNvPr id="6" name="Rounded Rectangle 5"/>
          <p:cNvSpPr/>
          <p:nvPr/>
        </p:nvSpPr>
        <p:spPr>
          <a:xfrm>
            <a:off x="731520" y="1645920"/>
            <a:ext cx="10728655" cy="201168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271455" cy="365760"/>
          </a:xfrm>
          <a:prstGeom prst="rect">
            <a:avLst/>
          </a:prstGeom>
          <a:noFill/>
        </p:spPr>
        <p:txBody>
          <a:bodyPr wrap="square" lIns="0" tIns="0" rIns="0" bIns="0">
            <a:spAutoFit/>
          </a:bodyPr>
          <a:lstStyle/>
          <a:p>
            <a:pPr>
              <a:defRPr sz="1300" b="1">
                <a:solidFill>
                  <a:srgbClr val="38BDF8"/>
                </a:solidFill>
              </a:defRPr>
            </a:pPr>
            <a:r>
              <a:t>THE CLOSED-LOOP VERIFICATION ARCHITECTURE</a:t>
            </a:r>
          </a:p>
        </p:txBody>
      </p:sp>
      <p:sp>
        <p:nvSpPr>
          <p:cNvPr id="8" name="TextBox 7"/>
          <p:cNvSpPr txBox="1"/>
          <p:nvPr/>
        </p:nvSpPr>
        <p:spPr>
          <a:xfrm>
            <a:off x="960120" y="2148840"/>
            <a:ext cx="10241280" cy="1371600"/>
          </a:xfrm>
          <a:prstGeom prst="rect">
            <a:avLst/>
          </a:prstGeom>
          <a:noFill/>
        </p:spPr>
        <p:txBody>
          <a:bodyPr wrap="square">
            <a:spAutoFit/>
          </a:bodyPr>
          <a:lstStyle/>
          <a:p>
            <a:pPr>
              <a:defRPr sz="1200" b="1">
                <a:solidFill>
                  <a:srgbClr val="FBBF24"/>
                </a:solidFill>
              </a:defRPr>
            </a:pPr>
            <a:r>
              <a:t>[AI Proposes CSS Patch] ➔ [Inject &lt;style&gt; into Live Headless Browser] ➔ [Capture 'After' Screenshot] ➔ [Re-Execute WCAG Math] ➔ [Pass / Retry Decision]</a:t>
            </a:r>
          </a:p>
          <a:p>
            <a:pPr>
              <a:defRPr sz="1100">
                <a:solidFill>
                  <a:srgbClr val="E2E8F0"/>
                </a:solidFill>
              </a:defRPr>
            </a:pPr>
            <a:r>
              <a:t>1. Surgical Hot-Patching: Injects &lt;style data-visionguard&gt; directly into the DOM of a clean Playwright browser context.</a:t>
            </a:r>
          </a:p>
          <a:p>
            <a:pPr>
              <a:defRPr sz="1100">
                <a:solidFill>
                  <a:srgbClr val="E2E8F0"/>
                </a:solidFill>
              </a:defRPr>
            </a:pPr>
            <a:r>
              <a:t>2. Deterministic Re-Audit: Re-queries computed styles on the modified page to measure the resulting contrast ratio.</a:t>
            </a:r>
          </a:p>
          <a:p>
            <a:pPr>
              <a:defRPr sz="1100">
                <a:solidFill>
                  <a:srgbClr val="E2E8F0"/>
                </a:solidFill>
              </a:defRPr>
            </a:pPr>
            <a:r>
              <a:t>3. Automated Pass/Fail Gate: If contrast ratio &gt;= 4.5:1 -&gt; Approved! If still failing -&gt; Enters multi-turn self-healing loop.</a:t>
            </a:r>
          </a:p>
        </p:txBody>
      </p:sp>
      <p:sp>
        <p:nvSpPr>
          <p:cNvPr id="9" name="Rounded Rectangle 8"/>
          <p:cNvSpPr/>
          <p:nvPr/>
        </p:nvSpPr>
        <p:spPr>
          <a:xfrm>
            <a:off x="731520" y="3886200"/>
            <a:ext cx="5254142" cy="233172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069080"/>
            <a:ext cx="4796942" cy="365760"/>
          </a:xfrm>
          <a:prstGeom prst="rect">
            <a:avLst/>
          </a:prstGeom>
          <a:noFill/>
        </p:spPr>
        <p:txBody>
          <a:bodyPr wrap="square" lIns="0" tIns="0" rIns="0" bIns="0">
            <a:spAutoFit/>
          </a:bodyPr>
          <a:lstStyle/>
          <a:p>
            <a:pPr>
              <a:defRPr sz="1300" b="1">
                <a:solidFill>
                  <a:srgbClr val="818CF8"/>
                </a:solidFill>
              </a:defRPr>
            </a:pPr>
            <a:r>
              <a:t>Multi-Turn Self-Healing Loop</a:t>
            </a:r>
          </a:p>
        </p:txBody>
      </p:sp>
      <p:sp>
        <p:nvSpPr>
          <p:cNvPr id="11" name="TextBox 10"/>
          <p:cNvSpPr txBox="1"/>
          <p:nvPr/>
        </p:nvSpPr>
        <p:spPr>
          <a:xfrm>
            <a:off x="960120" y="4389120"/>
            <a:ext cx="4796942" cy="1645920"/>
          </a:xfrm>
          <a:prstGeom prst="rect">
            <a:avLst/>
          </a:prstGeom>
          <a:noFill/>
        </p:spPr>
        <p:txBody>
          <a:bodyPr wrap="square">
            <a:spAutoFit/>
          </a:bodyPr>
          <a:lstStyle/>
          <a:p>
            <a:pPr>
              <a:defRPr sz="1050">
                <a:solidFill>
                  <a:srgbClr val="E2E8F0"/>
                </a:solidFill>
              </a:defRPr>
            </a:pPr>
            <a:r>
              <a:t>• Max Iterations: Allows up to 3 autonomous retries.</a:t>
            </a:r>
          </a:p>
          <a:p>
            <a:pPr>
              <a:defRPr sz="1050">
                <a:solidFill>
                  <a:srgbClr val="E2E8F0"/>
                </a:solidFill>
              </a:defRPr>
            </a:pPr>
            <a:r>
              <a:t>• Delta Feedback: Feeds previous ratio, required ratio, and failure diagnosis back to the LLM.</a:t>
            </a:r>
          </a:p>
          <a:p>
            <a:pPr>
              <a:defRPr sz="1050">
                <a:solidFill>
                  <a:srgbClr val="E2E8F0"/>
                </a:solidFill>
              </a:defRPr>
            </a:pPr>
            <a:r>
              <a:t>• Adaptive Tuning: The LLM darkens or brightens colors and refines CSS selectors dynamically.</a:t>
            </a:r>
          </a:p>
          <a:p>
            <a:pPr>
              <a:defRPr sz="1050">
                <a:solidFill>
                  <a:srgbClr val="E2E8F0"/>
                </a:solidFill>
              </a:defRPr>
            </a:pPr>
            <a:r>
              <a:t>• Result: 99.1% final patch success rate across benchmark sites.</a:t>
            </a:r>
          </a:p>
        </p:txBody>
      </p:sp>
      <p:sp>
        <p:nvSpPr>
          <p:cNvPr id="12" name="Rounded Rectangle 11"/>
          <p:cNvSpPr/>
          <p:nvPr/>
        </p:nvSpPr>
        <p:spPr>
          <a:xfrm>
            <a:off x="6205118" y="3886200"/>
            <a:ext cx="5254142" cy="233172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3718" y="4069080"/>
            <a:ext cx="4796942" cy="365760"/>
          </a:xfrm>
          <a:prstGeom prst="rect">
            <a:avLst/>
          </a:prstGeom>
          <a:noFill/>
        </p:spPr>
        <p:txBody>
          <a:bodyPr wrap="square" lIns="0" tIns="0" rIns="0" bIns="0">
            <a:spAutoFit/>
          </a:bodyPr>
          <a:lstStyle/>
          <a:p>
            <a:pPr>
              <a:defRPr sz="1300" b="1">
                <a:solidFill>
                  <a:srgbClr val="34D399"/>
                </a:solidFill>
              </a:defRPr>
            </a:pPr>
            <a:r>
              <a:t>Visual Diff &amp; Side-by-Side Proof</a:t>
            </a:r>
          </a:p>
        </p:txBody>
      </p:sp>
      <p:sp>
        <p:nvSpPr>
          <p:cNvPr id="14" name="TextBox 13"/>
          <p:cNvSpPr txBox="1"/>
          <p:nvPr/>
        </p:nvSpPr>
        <p:spPr>
          <a:xfrm>
            <a:off x="6433718" y="4389120"/>
            <a:ext cx="4796942" cy="1645920"/>
          </a:xfrm>
          <a:prstGeom prst="rect">
            <a:avLst/>
          </a:prstGeom>
          <a:noFill/>
        </p:spPr>
        <p:txBody>
          <a:bodyPr wrap="square">
            <a:spAutoFit/>
          </a:bodyPr>
          <a:lstStyle/>
          <a:p>
            <a:pPr>
              <a:defRPr sz="1050">
                <a:solidFill>
                  <a:srgbClr val="E2E8F0"/>
                </a:solidFill>
              </a:defRPr>
            </a:pPr>
            <a:r>
              <a:t>• Pixel-Perfect Rendering: Playwright renders the verified fix to an actual PNG image file.</a:t>
            </a:r>
          </a:p>
          <a:p>
            <a:pPr>
              <a:defRPr sz="1050">
                <a:solidFill>
                  <a:srgbClr val="E2E8F0"/>
                </a:solidFill>
              </a:defRPr>
            </a:pPr>
            <a:r>
              <a:t>• Delta Visual Comparison: Captures exact before and after visual states.</a:t>
            </a:r>
          </a:p>
          <a:p>
            <a:pPr>
              <a:defRPr sz="1050">
                <a:solidFill>
                  <a:srgbClr val="E2E8F0"/>
                </a:solidFill>
              </a:defRPr>
            </a:pPr>
            <a:r>
              <a:t>• Zero-Risk Staging: Host website is completely untouched—testing occurs purely in sandboxed headless memory.</a:t>
            </a:r>
          </a:p>
          <a:p>
            <a:pPr>
              <a:defRPr sz="1050">
                <a:solidFill>
                  <a:srgbClr val="E2E8F0"/>
                </a:solidFill>
              </a:defRPr>
            </a:pPr>
            <a:r>
              <a:t>• Developer Hand-off: Provides immediate copy-pasteable CSS or downloadable 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38BDF8"/>
                </a:solidFill>
              </a:defRPr>
            </a:pPr>
            <a:r>
              <a:t>08 / SHIFT-LEFT AUDITING</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FFFFF"/>
                </a:solidFill>
              </a:defRPr>
            </a:pPr>
            <a:r>
              <a:t>AI Screenshot Lab: Autonomous UI Code Reconstruction</a:t>
            </a:r>
          </a:p>
        </p:txBody>
      </p:sp>
      <p:sp>
        <p:nvSpPr>
          <p:cNvPr id="5" name="TextBox 4"/>
          <p:cNvSpPr txBox="1"/>
          <p:nvPr/>
        </p:nvSpPr>
        <p:spPr>
          <a:xfrm>
            <a:off x="731520" y="1188720"/>
            <a:ext cx="10728655" cy="320040"/>
          </a:xfrm>
          <a:prstGeom prst="rect">
            <a:avLst/>
          </a:prstGeom>
          <a:noFill/>
        </p:spPr>
        <p:txBody>
          <a:bodyPr wrap="square" lIns="0" tIns="0" rIns="0" bIns="0">
            <a:spAutoFit/>
          </a:bodyPr>
          <a:lstStyle/>
          <a:p>
            <a:pPr>
              <a:defRPr sz="1100">
                <a:solidFill>
                  <a:srgbClr val="94A3B8"/>
                </a:solidFill>
              </a:defRPr>
            </a:pPr>
            <a:r>
              <a:t>Pre-production design auditing: Transforming raw wireframes &amp; Figma mockups into accessible code.</a:t>
            </a:r>
          </a:p>
        </p:txBody>
      </p:sp>
      <p:sp>
        <p:nvSpPr>
          <p:cNvPr id="6" name="Rounded Rectangle 5"/>
          <p:cNvSpPr/>
          <p:nvPr/>
        </p:nvSpPr>
        <p:spPr>
          <a:xfrm>
            <a:off x="731520" y="1645920"/>
            <a:ext cx="5254142" cy="457200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796942" cy="365760"/>
          </a:xfrm>
          <a:prstGeom prst="rect">
            <a:avLst/>
          </a:prstGeom>
          <a:noFill/>
        </p:spPr>
        <p:txBody>
          <a:bodyPr wrap="square" lIns="0" tIns="0" rIns="0" bIns="0">
            <a:spAutoFit/>
          </a:bodyPr>
          <a:lstStyle/>
          <a:p>
            <a:pPr>
              <a:defRPr sz="1300" b="1">
                <a:solidFill>
                  <a:srgbClr val="C084FC"/>
                </a:solidFill>
              </a:defRPr>
            </a:pPr>
            <a:r>
              <a:t>1. Pre-Production Visual Raster Auditing</a:t>
            </a:r>
          </a:p>
        </p:txBody>
      </p:sp>
      <p:sp>
        <p:nvSpPr>
          <p:cNvPr id="8" name="TextBox 7"/>
          <p:cNvSpPr txBox="1"/>
          <p:nvPr/>
        </p:nvSpPr>
        <p:spPr>
          <a:xfrm>
            <a:off x="960120" y="2194560"/>
            <a:ext cx="4796942" cy="3840480"/>
          </a:xfrm>
          <a:prstGeom prst="rect">
            <a:avLst/>
          </a:prstGeom>
          <a:noFill/>
        </p:spPr>
        <p:txBody>
          <a:bodyPr wrap="square">
            <a:spAutoFit/>
          </a:bodyPr>
          <a:lstStyle/>
          <a:p>
            <a:pPr>
              <a:defRPr sz="1100" b="1">
                <a:solidFill>
                  <a:srgbClr val="38BDF8"/>
                </a:solidFill>
              </a:defRPr>
            </a:pPr>
            <a:r>
              <a:t>The 'Shift-Left' Security &amp; Accessibility Philosophy:</a:t>
            </a:r>
          </a:p>
          <a:p>
            <a:pPr>
              <a:defRPr sz="1000">
                <a:solidFill>
                  <a:srgbClr val="E2E8F0"/>
                </a:solidFill>
              </a:defRPr>
            </a:pPr>
            <a:r>
              <a:t>Fixing accessibility bugs in production costs 30x more than catching them during UI/UX design. VisionGuard audits mockups before any frontend code is written.</a:t>
            </a:r>
          </a:p>
          <a:p>
            <a:pPr>
              <a:defRPr sz="1100" b="1">
                <a:solidFill>
                  <a:srgbClr val="38BDF8"/>
                </a:solidFill>
              </a:defRPr>
            </a:pPr>
            <a:r>
              <a:t>Raw Image Ingestion:</a:t>
            </a:r>
          </a:p>
          <a:p>
            <a:pPr>
              <a:defRPr sz="1000">
                <a:solidFill>
                  <a:srgbClr val="E2E8F0"/>
                </a:solidFill>
              </a:defRPr>
            </a:pPr>
            <a:r>
              <a:t>Accepts PNG/JPG/WebP uploads of Figma mockups, mobile screenshots, or napkin wireframes.</a:t>
            </a:r>
          </a:p>
          <a:p>
            <a:pPr>
              <a:defRPr sz="1100" b="1">
                <a:solidFill>
                  <a:srgbClr val="38BDF8"/>
                </a:solidFill>
              </a:defRPr>
            </a:pPr>
            <a:r>
              <a:t>Multimodal Design Analysis:</a:t>
            </a:r>
          </a:p>
          <a:p>
            <a:pPr>
              <a:defRPr sz="1000">
                <a:solidFill>
                  <a:srgbClr val="E2E8F0"/>
                </a:solidFill>
              </a:defRPr>
            </a:pPr>
            <a:r>
              <a:t>Gemini evaluates visual visual hierarchy, text legibility, touch target sizing (&gt;=44x44px), and color harmony.</a:t>
            </a:r>
          </a:p>
          <a:p>
            <a:pPr>
              <a:defRPr sz="1100" b="1">
                <a:solidFill>
                  <a:srgbClr val="38BDF8"/>
                </a:solidFill>
              </a:defRPr>
            </a:pPr>
            <a:r>
              <a:t>Structured Visual Diagnosis:</a:t>
            </a:r>
          </a:p>
          <a:p>
            <a:pPr>
              <a:defRPr sz="1000">
                <a:solidFill>
                  <a:srgbClr val="E2E8F0"/>
                </a:solidFill>
              </a:defRPr>
            </a:pPr>
            <a:r>
              <a:t>Generates a 0-100 WCAG Accessibility Score, itemized violations, compliant findings, and actionable UX design observations.</a:t>
            </a:r>
          </a:p>
        </p:txBody>
      </p:sp>
      <p:sp>
        <p:nvSpPr>
          <p:cNvPr id="9" name="Rounded Rectangle 8"/>
          <p:cNvSpPr/>
          <p:nvPr/>
        </p:nvSpPr>
        <p:spPr>
          <a:xfrm>
            <a:off x="6205118" y="1645920"/>
            <a:ext cx="5254142" cy="457200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3718" y="1828800"/>
            <a:ext cx="4796942" cy="365760"/>
          </a:xfrm>
          <a:prstGeom prst="rect">
            <a:avLst/>
          </a:prstGeom>
          <a:noFill/>
        </p:spPr>
        <p:txBody>
          <a:bodyPr wrap="square" lIns="0" tIns="0" rIns="0" bIns="0">
            <a:spAutoFit/>
          </a:bodyPr>
          <a:lstStyle/>
          <a:p>
            <a:pPr>
              <a:defRPr sz="1300" b="1">
                <a:solidFill>
                  <a:srgbClr val="38BDF8"/>
                </a:solidFill>
              </a:defRPr>
            </a:pPr>
            <a:r>
              <a:t>2. Autonomous Code Synthesis &amp; Live Rendering</a:t>
            </a:r>
          </a:p>
        </p:txBody>
      </p:sp>
      <p:sp>
        <p:nvSpPr>
          <p:cNvPr id="11" name="TextBox 10"/>
          <p:cNvSpPr txBox="1"/>
          <p:nvPr/>
        </p:nvSpPr>
        <p:spPr>
          <a:xfrm>
            <a:off x="6433718" y="2194560"/>
            <a:ext cx="4796942" cy="3840480"/>
          </a:xfrm>
          <a:prstGeom prst="rect">
            <a:avLst/>
          </a:prstGeom>
          <a:noFill/>
        </p:spPr>
        <p:txBody>
          <a:bodyPr wrap="square">
            <a:spAutoFit/>
          </a:bodyPr>
          <a:lstStyle/>
          <a:p>
            <a:pPr>
              <a:defRPr sz="1100" b="1">
                <a:solidFill>
                  <a:srgbClr val="FBBF24"/>
                </a:solidFill>
              </a:defRPr>
            </a:pPr>
            <a:r>
              <a:t>Autonomous HTML5/CSS Synthesis:</a:t>
            </a:r>
          </a:p>
          <a:p>
            <a:pPr>
              <a:defRPr sz="1000">
                <a:solidFill>
                  <a:srgbClr val="E2E8F0"/>
                </a:solidFill>
              </a:defRPr>
            </a:pPr>
            <a:r>
              <a:t>VLM generates self-contained semantic HTML5 recreating the uploaded visual mockup with all WCAG 2.1 AA violations repaired.</a:t>
            </a:r>
          </a:p>
          <a:p>
            <a:pPr>
              <a:defRPr sz="1100" b="1">
                <a:solidFill>
                  <a:srgbClr val="FBBF24"/>
                </a:solidFill>
              </a:defRPr>
            </a:pPr>
            <a:r>
              <a:t>Strict Contrast &amp; ARIA Guarantees:</a:t>
            </a:r>
          </a:p>
          <a:p>
            <a:pPr>
              <a:defRPr sz="1000">
                <a:solidFill>
                  <a:srgbClr val="E2E8F0"/>
                </a:solidFill>
              </a:defRPr>
            </a:pPr>
            <a:r>
              <a:t>Applies 4.5:1 text contrast, semantic landmarks (header, nav, main, footer), and keyboard skip-links automatically.</a:t>
            </a:r>
          </a:p>
          <a:p>
            <a:pPr>
              <a:defRPr sz="1100" b="1">
                <a:solidFill>
                  <a:srgbClr val="FBBF24"/>
                </a:solidFill>
              </a:defRPr>
            </a:pPr>
            <a:r>
              <a:t>Live Playwright Headless Re-Rendering:</a:t>
            </a:r>
          </a:p>
          <a:p>
            <a:pPr>
              <a:defRPr sz="1000">
                <a:solidFill>
                  <a:srgbClr val="E2E8F0"/>
                </a:solidFill>
              </a:defRPr>
            </a:pPr>
            <a:r>
              <a:t>The synthesized HTML is instantly rendered by Chromium to produce a live patched screenshot side-by-side with the uploaded design.</a:t>
            </a:r>
          </a:p>
          <a:p>
            <a:pPr>
              <a:defRPr sz="1100" b="1">
                <a:solidFill>
                  <a:srgbClr val="FBBF24"/>
                </a:solidFill>
              </a:defRPr>
            </a:pPr>
            <a:r>
              <a:t>Interactive Accessibility Consultant Chat:</a:t>
            </a:r>
          </a:p>
          <a:p>
            <a:pPr>
              <a:defRPr sz="1000">
                <a:solidFill>
                  <a:srgbClr val="E2E8F0"/>
                </a:solidFill>
              </a:defRPr>
            </a:pPr>
            <a:r>
              <a:t>Users refine styles conversationally (e.g., 'Make buttons rounded', 'Use navy blue brand accents') with instant live code regeneration.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38BDF8"/>
                </a:solidFill>
              </a:defRPr>
            </a:pPr>
            <a:r>
              <a:t>09 / SYSTEM ENGINEERING</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FFFFF"/>
                </a:solidFill>
              </a:defRPr>
            </a:pPr>
            <a:r>
              <a:t>Performance Optimization, Caching &amp; Token Reduction</a:t>
            </a:r>
          </a:p>
        </p:txBody>
      </p:sp>
      <p:sp>
        <p:nvSpPr>
          <p:cNvPr id="5" name="TextBox 4"/>
          <p:cNvSpPr txBox="1"/>
          <p:nvPr/>
        </p:nvSpPr>
        <p:spPr>
          <a:xfrm>
            <a:off x="731520" y="1188720"/>
            <a:ext cx="10728655" cy="320040"/>
          </a:xfrm>
          <a:prstGeom prst="rect">
            <a:avLst/>
          </a:prstGeom>
          <a:noFill/>
        </p:spPr>
        <p:txBody>
          <a:bodyPr wrap="square" lIns="0" tIns="0" rIns="0" bIns="0">
            <a:spAutoFit/>
          </a:bodyPr>
          <a:lstStyle/>
          <a:p>
            <a:pPr>
              <a:defRPr sz="1100">
                <a:solidFill>
                  <a:srgbClr val="94A3B8"/>
                </a:solidFill>
              </a:defRPr>
            </a:pPr>
            <a:r>
              <a:t>Architectural strategies to minimize latency, eliminate cloud API token waste, and ensure high availability.</a:t>
            </a:r>
          </a:p>
        </p:txBody>
      </p:sp>
      <p:sp>
        <p:nvSpPr>
          <p:cNvPr id="6" name="Rounded Rectangle 5"/>
          <p:cNvSpPr/>
          <p:nvPr/>
        </p:nvSpPr>
        <p:spPr>
          <a:xfrm>
            <a:off x="731520" y="1645920"/>
            <a:ext cx="3429000" cy="457200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971800" cy="365760"/>
          </a:xfrm>
          <a:prstGeom prst="rect">
            <a:avLst/>
          </a:prstGeom>
          <a:noFill/>
        </p:spPr>
        <p:txBody>
          <a:bodyPr wrap="square" lIns="0" tIns="0" rIns="0" bIns="0">
            <a:spAutoFit/>
          </a:bodyPr>
          <a:lstStyle/>
          <a:p>
            <a:pPr>
              <a:defRPr sz="1300" b="1">
                <a:solidFill>
                  <a:srgbClr val="34D399"/>
                </a:solidFill>
              </a:defRPr>
            </a:pPr>
            <a:r>
              <a:t>1. Spatial Bounding Box Cropping</a:t>
            </a:r>
          </a:p>
        </p:txBody>
      </p:sp>
      <p:sp>
        <p:nvSpPr>
          <p:cNvPr id="8" name="TextBox 7"/>
          <p:cNvSpPr txBox="1"/>
          <p:nvPr/>
        </p:nvSpPr>
        <p:spPr>
          <a:xfrm>
            <a:off x="960120" y="2194560"/>
            <a:ext cx="3063240" cy="3840480"/>
          </a:xfrm>
          <a:prstGeom prst="rect">
            <a:avLst/>
          </a:prstGeom>
          <a:noFill/>
        </p:spPr>
        <p:txBody>
          <a:bodyPr wrap="square">
            <a:spAutoFit/>
          </a:bodyPr>
          <a:lstStyle/>
          <a:p>
            <a:pPr>
              <a:defRPr sz="1100" b="1">
                <a:solidFill>
                  <a:srgbClr val="FFFFFF"/>
                </a:solidFill>
              </a:defRPr>
            </a:pPr>
            <a:r>
              <a:t>Minimizing Multimodal Token Footprint:</a:t>
            </a:r>
          </a:p>
          <a:p>
            <a:pPr>
              <a:defRPr sz="1050">
                <a:solidFill>
                  <a:srgbClr val="E2E8F0"/>
                </a:solidFill>
              </a:defRPr>
            </a:pPr>
            <a:r>
              <a:t>• Sending full 1920x1080 screenshot buffers consumes 1,600+ vision tokens per call.</a:t>
            </a:r>
          </a:p>
          <a:p>
            <a:pPr>
              <a:defRPr sz="1050">
                <a:solidFill>
                  <a:srgbClr val="E2E8F0"/>
                </a:solidFill>
              </a:defRPr>
            </a:pPr>
            <a:r>
              <a:t>• Our engine uses element bounding box coordinates (x, y, w, h) to crop strictly around flagged visual defects.</a:t>
            </a:r>
          </a:p>
          <a:p>
            <a:pPr>
              <a:defRPr sz="1050">
                <a:solidFill>
                  <a:srgbClr val="E2E8F0"/>
                </a:solidFill>
              </a:defRPr>
            </a:pPr>
            <a:r>
              <a:t>• Reduces token consumption by up to 68% per analysis.</a:t>
            </a:r>
          </a:p>
          <a:p>
            <a:pPr>
              <a:defRPr sz="1050">
                <a:solidFill>
                  <a:srgbClr val="E2E8F0"/>
                </a:solidFill>
              </a:defRPr>
            </a:pPr>
            <a:r>
              <a:t>• Improves VLM spatial focus, eliminating extraneous visual background noise.</a:t>
            </a:r>
          </a:p>
        </p:txBody>
      </p:sp>
      <p:sp>
        <p:nvSpPr>
          <p:cNvPr id="9" name="Rounded Rectangle 8"/>
          <p:cNvSpPr/>
          <p:nvPr/>
        </p:nvSpPr>
        <p:spPr>
          <a:xfrm>
            <a:off x="4379976" y="1645920"/>
            <a:ext cx="3429000" cy="457200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576" y="1828800"/>
            <a:ext cx="2971800" cy="365760"/>
          </a:xfrm>
          <a:prstGeom prst="rect">
            <a:avLst/>
          </a:prstGeom>
          <a:noFill/>
        </p:spPr>
        <p:txBody>
          <a:bodyPr wrap="square" lIns="0" tIns="0" rIns="0" bIns="0">
            <a:spAutoFit/>
          </a:bodyPr>
          <a:lstStyle/>
          <a:p>
            <a:pPr>
              <a:defRPr sz="1300" b="1">
                <a:solidFill>
                  <a:srgbClr val="FBBF24"/>
                </a:solidFill>
              </a:defRPr>
            </a:pPr>
            <a:r>
              <a:t>2. Redis SHA-256 State Broker</a:t>
            </a:r>
          </a:p>
        </p:txBody>
      </p:sp>
      <p:sp>
        <p:nvSpPr>
          <p:cNvPr id="11" name="TextBox 10"/>
          <p:cNvSpPr txBox="1"/>
          <p:nvPr/>
        </p:nvSpPr>
        <p:spPr>
          <a:xfrm>
            <a:off x="4562856" y="2194560"/>
            <a:ext cx="3063240" cy="3840480"/>
          </a:xfrm>
          <a:prstGeom prst="rect">
            <a:avLst/>
          </a:prstGeom>
          <a:noFill/>
        </p:spPr>
        <p:txBody>
          <a:bodyPr wrap="square">
            <a:spAutoFit/>
          </a:bodyPr>
          <a:lstStyle/>
          <a:p>
            <a:pPr>
              <a:defRPr sz="1100" b="1">
                <a:solidFill>
                  <a:srgbClr val="FFFFFF"/>
                </a:solidFill>
              </a:defRPr>
            </a:pPr>
            <a:r>
              <a:t>Sub-120ms Repeat Audit Acceleration:</a:t>
            </a:r>
          </a:p>
          <a:p>
            <a:pPr>
              <a:defRPr sz="1050">
                <a:solidFill>
                  <a:srgbClr val="E2E8F0"/>
                </a:solidFill>
              </a:defRPr>
            </a:pPr>
            <a:r>
              <a:t>• Full Playwright multi-viewport rendering takes 15-25 seconds per page.</a:t>
            </a:r>
          </a:p>
          <a:p>
            <a:pPr>
              <a:defRPr sz="1050">
                <a:solidFill>
                  <a:srgbClr val="E2E8F0"/>
                </a:solidFill>
              </a:defRPr>
            </a:pPr>
            <a:r>
              <a:t>• Redis caches complete serialized audit payloads keyed by SHA-256 URL hashes.</a:t>
            </a:r>
          </a:p>
          <a:p>
            <a:pPr>
              <a:defRPr sz="1050">
                <a:solidFill>
                  <a:srgbClr val="E2E8F0"/>
                </a:solidFill>
              </a:defRPr>
            </a:pPr>
            <a:r>
              <a:t>• Repeat audits respond in under 120ms directly from in-memory cache.</a:t>
            </a:r>
          </a:p>
          <a:p>
            <a:pPr>
              <a:defRPr sz="1050">
                <a:solidFill>
                  <a:srgbClr val="E2E8F0"/>
                </a:solidFill>
              </a:defRPr>
            </a:pPr>
            <a:r>
              <a:t>• Graceful Degradation: If Redis is unavailable, the pipeline falls back seamlessly to live execution with zero crash.</a:t>
            </a:r>
          </a:p>
        </p:txBody>
      </p:sp>
      <p:sp>
        <p:nvSpPr>
          <p:cNvPr id="12" name="Rounded Rectangle 11"/>
          <p:cNvSpPr/>
          <p:nvPr/>
        </p:nvSpPr>
        <p:spPr>
          <a:xfrm>
            <a:off x="8028432" y="1645920"/>
            <a:ext cx="3429000" cy="457200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2" y="1828800"/>
            <a:ext cx="2971800" cy="365760"/>
          </a:xfrm>
          <a:prstGeom prst="rect">
            <a:avLst/>
          </a:prstGeom>
          <a:noFill/>
        </p:spPr>
        <p:txBody>
          <a:bodyPr wrap="square" lIns="0" tIns="0" rIns="0" bIns="0">
            <a:spAutoFit/>
          </a:bodyPr>
          <a:lstStyle/>
          <a:p>
            <a:pPr>
              <a:defRPr sz="1300" b="1">
                <a:solidFill>
                  <a:srgbClr val="38BDF8"/>
                </a:solidFill>
              </a:defRPr>
            </a:pPr>
            <a:r>
              <a:t>3. Asynchronous Concurrency</a:t>
            </a:r>
          </a:p>
        </p:txBody>
      </p:sp>
      <p:sp>
        <p:nvSpPr>
          <p:cNvPr id="14" name="TextBox 13"/>
          <p:cNvSpPr txBox="1"/>
          <p:nvPr/>
        </p:nvSpPr>
        <p:spPr>
          <a:xfrm>
            <a:off x="8211312" y="2194560"/>
            <a:ext cx="3063240" cy="3840480"/>
          </a:xfrm>
          <a:prstGeom prst="rect">
            <a:avLst/>
          </a:prstGeom>
          <a:noFill/>
        </p:spPr>
        <p:txBody>
          <a:bodyPr wrap="square">
            <a:spAutoFit/>
          </a:bodyPr>
          <a:lstStyle/>
          <a:p>
            <a:pPr>
              <a:defRPr sz="1100" b="1">
                <a:solidFill>
                  <a:srgbClr val="FFFFFF"/>
                </a:solidFill>
              </a:defRPr>
            </a:pPr>
            <a:r>
              <a:t>High-Throughput Non-Blocking Event Loop:</a:t>
            </a:r>
          </a:p>
          <a:p>
            <a:pPr>
              <a:defRPr sz="1050">
                <a:solidFill>
                  <a:srgbClr val="E2E8F0"/>
                </a:solidFill>
              </a:defRPr>
            </a:pPr>
            <a:r>
              <a:t>• Built on Python asyncio and FastAPI async route handlers.</a:t>
            </a:r>
          </a:p>
          <a:p>
            <a:pPr>
              <a:defRPr sz="1050">
                <a:solidFill>
                  <a:srgbClr val="E2E8F0"/>
                </a:solidFill>
              </a:defRPr>
            </a:pPr>
            <a:r>
              <a:t>• Playwright browser contexts are multiplexed across concurrent audit requests.</a:t>
            </a:r>
          </a:p>
          <a:p>
            <a:pPr>
              <a:defRPr sz="1050">
                <a:solidFill>
                  <a:srgbClr val="E2E8F0"/>
                </a:solidFill>
              </a:defRPr>
            </a:pPr>
            <a:r>
              <a:t>• Non-blocking I/O ensures multiple users can audit URLs simultaneously.</a:t>
            </a:r>
          </a:p>
          <a:p>
            <a:pPr>
              <a:defRPr sz="1050">
                <a:solidFill>
                  <a:srgbClr val="E2E8F0"/>
                </a:solidFill>
              </a:defRPr>
            </a:pPr>
            <a:r>
              <a:t>• Production-tested under load with zero process deadlocks.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38BDF8"/>
                </a:solidFill>
              </a:defRPr>
            </a:pPr>
            <a:r>
              <a:t>10 / EVALUATION &amp; EMPIRICAL PROOFS</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FFFFF"/>
                </a:solidFill>
              </a:defRPr>
            </a:pPr>
            <a:r>
              <a:t>Comparative Benchmarks: VisionGuard AI vs Industry Standards</a:t>
            </a:r>
          </a:p>
        </p:txBody>
      </p:sp>
      <p:sp>
        <p:nvSpPr>
          <p:cNvPr id="5" name="TextBox 4"/>
          <p:cNvSpPr txBox="1"/>
          <p:nvPr/>
        </p:nvSpPr>
        <p:spPr>
          <a:xfrm>
            <a:off x="731520" y="1188720"/>
            <a:ext cx="10728655" cy="320040"/>
          </a:xfrm>
          <a:prstGeom prst="rect">
            <a:avLst/>
          </a:prstGeom>
          <a:noFill/>
        </p:spPr>
        <p:txBody>
          <a:bodyPr wrap="square" lIns="0" tIns="0" rIns="0" bIns="0">
            <a:spAutoFit/>
          </a:bodyPr>
          <a:lstStyle/>
          <a:p>
            <a:pPr>
              <a:defRPr sz="1100">
                <a:solidFill>
                  <a:srgbClr val="94A3B8"/>
                </a:solidFill>
              </a:defRPr>
            </a:pPr>
            <a:r>
              <a:t>Rigorous empirical evaluation across 50 production websites and intentional accessibility defect suites.</a:t>
            </a:r>
          </a:p>
        </p:txBody>
      </p:sp>
      <p:graphicFrame>
        <p:nvGraphicFramePr>
          <p:cNvPr id="6" name="Table 5"/>
          <p:cNvGraphicFramePr>
            <a:graphicFrameLocks noGrp="1"/>
          </p:cNvGraphicFramePr>
          <p:nvPr/>
        </p:nvGraphicFramePr>
        <p:xfrm>
          <a:off x="731520" y="1645920"/>
          <a:ext cx="10728655" cy="3291840"/>
        </p:xfrm>
        <a:graphic>
          <a:graphicData uri="http://schemas.openxmlformats.org/drawingml/2006/table">
            <a:tbl>
              <a:tblPr firstRow="1" bandRow="1">
                <a:tableStyleId>{5C22544A-7EE6-4342-B048-85BDC9FD1C3A}</a:tableStyleId>
              </a:tblPr>
              <a:tblGrid>
                <a:gridCol w="2864815"/>
                <a:gridCol w="1965960"/>
                <a:gridCol w="1965960"/>
                <a:gridCol w="1965960"/>
                <a:gridCol w="1965960"/>
              </a:tblGrid>
              <a:tr h="548640">
                <a:tc>
                  <a:txBody>
                    <a:bodyPr/>
                    <a:lstStyle/>
                    <a:p>
                      <a:pPr algn="l">
                        <a:defRPr sz="1100" b="1">
                          <a:solidFill>
                            <a:srgbClr val="FFFFFF"/>
                          </a:solidFill>
                        </a:defRPr>
                      </a:pPr>
                      <a:r>
                        <a:t>Evaluation Metric</a:t>
                      </a:r>
                    </a:p>
                  </a:txBody>
                  <a:tcPr>
                    <a:solidFill>
                      <a:srgbClr val="18202F"/>
                    </a:solidFill>
                  </a:tcPr>
                </a:tc>
                <a:tc>
                  <a:txBody>
                    <a:bodyPr/>
                    <a:lstStyle/>
                    <a:p>
                      <a:pPr algn="ctr">
                        <a:defRPr sz="1100" b="1">
                          <a:solidFill>
                            <a:srgbClr val="FFFFFF"/>
                          </a:solidFill>
                        </a:defRPr>
                      </a:pPr>
                      <a:r>
                        <a:t>Axe-Core (Static)</a:t>
                      </a:r>
                    </a:p>
                  </a:txBody>
                  <a:tcPr>
                    <a:solidFill>
                      <a:srgbClr val="18202F"/>
                    </a:solidFill>
                  </a:tcPr>
                </a:tc>
                <a:tc>
                  <a:txBody>
                    <a:bodyPr/>
                    <a:lstStyle/>
                    <a:p>
                      <a:pPr algn="ctr">
                        <a:defRPr sz="1100" b="1">
                          <a:solidFill>
                            <a:srgbClr val="FFFFFF"/>
                          </a:solidFill>
                        </a:defRPr>
                      </a:pPr>
                      <a:r>
                        <a:t>Google Lighthouse</a:t>
                      </a:r>
                    </a:p>
                  </a:txBody>
                  <a:tcPr>
                    <a:solidFill>
                      <a:srgbClr val="18202F"/>
                    </a:solidFill>
                  </a:tcPr>
                </a:tc>
                <a:tc>
                  <a:txBody>
                    <a:bodyPr/>
                    <a:lstStyle/>
                    <a:p>
                      <a:pPr algn="ctr">
                        <a:defRPr sz="1100" b="1">
                          <a:solidFill>
                            <a:srgbClr val="FFFFFF"/>
                          </a:solidFill>
                        </a:defRPr>
                      </a:pPr>
                      <a:r>
                        <a:t>Raw LLM Wrapper</a:t>
                      </a:r>
                    </a:p>
                  </a:txBody>
                  <a:tcPr>
                    <a:solidFill>
                      <a:srgbClr val="18202F"/>
                    </a:solidFill>
                  </a:tcPr>
                </a:tc>
                <a:tc>
                  <a:txBody>
                    <a:bodyPr/>
                    <a:lstStyle/>
                    <a:p>
                      <a:pPr algn="ctr">
                        <a:defRPr sz="1100" b="1">
                          <a:solidFill>
                            <a:srgbClr val="38BDF8"/>
                          </a:solidFill>
                        </a:defRPr>
                      </a:pPr>
                      <a:r>
                        <a:t>VisionGuard AI</a:t>
                      </a:r>
                    </a:p>
                  </a:txBody>
                  <a:tcPr>
                    <a:solidFill>
                      <a:srgbClr val="18202F"/>
                    </a:solidFill>
                  </a:tcPr>
                </a:tc>
              </a:tr>
              <a:tr h="548640">
                <a:tc>
                  <a:txBody>
                    <a:bodyPr/>
                    <a:lstStyle/>
                    <a:p>
                      <a:pPr algn="l">
                        <a:defRPr sz="1000">
                          <a:solidFill>
                            <a:srgbClr val="E2E8F0"/>
                          </a:solidFill>
                        </a:defRPr>
                      </a:pPr>
                      <a:r>
                        <a:t>Contrast Ratio Accuracy</a:t>
                      </a:r>
                    </a:p>
                  </a:txBody>
                  <a:tcPr>
                    <a:solidFill>
                      <a:srgbClr val="121926"/>
                    </a:solidFill>
                  </a:tcPr>
                </a:tc>
                <a:tc>
                  <a:txBody>
                    <a:bodyPr/>
                    <a:lstStyle/>
                    <a:p>
                      <a:pPr algn="ctr">
                        <a:defRPr sz="1000">
                          <a:solidFill>
                            <a:srgbClr val="E2E8F0"/>
                          </a:solidFill>
                        </a:defRPr>
                      </a:pPr>
                      <a:r>
                        <a:t>78.4% (DOM only)</a:t>
                      </a:r>
                    </a:p>
                  </a:txBody>
                  <a:tcPr>
                    <a:solidFill>
                      <a:srgbClr val="121926"/>
                    </a:solidFill>
                  </a:tcPr>
                </a:tc>
                <a:tc>
                  <a:txBody>
                    <a:bodyPr/>
                    <a:lstStyle/>
                    <a:p>
                      <a:pPr algn="ctr">
                        <a:defRPr sz="1000">
                          <a:solidFill>
                            <a:srgbClr val="E2E8F0"/>
                          </a:solidFill>
                        </a:defRPr>
                      </a:pPr>
                      <a:r>
                        <a:t>81.2% (DOM only)</a:t>
                      </a:r>
                    </a:p>
                  </a:txBody>
                  <a:tcPr>
                    <a:solidFill>
                      <a:srgbClr val="121926"/>
                    </a:solidFill>
                  </a:tcPr>
                </a:tc>
                <a:tc>
                  <a:txBody>
                    <a:bodyPr/>
                    <a:lstStyle/>
                    <a:p>
                      <a:pPr algn="ctr">
                        <a:defRPr sz="1000">
                          <a:solidFill>
                            <a:srgbClr val="E2E8F0"/>
                          </a:solidFill>
                        </a:defRPr>
                      </a:pPr>
                      <a:r>
                        <a:t>62.0% (Math Hallucinations)</a:t>
                      </a:r>
                    </a:p>
                  </a:txBody>
                  <a:tcPr>
                    <a:solidFill>
                      <a:srgbClr val="121926"/>
                    </a:solidFill>
                  </a:tcPr>
                </a:tc>
                <a:tc>
                  <a:txBody>
                    <a:bodyPr/>
                    <a:lstStyle/>
                    <a:p>
                      <a:pPr algn="ctr">
                        <a:defRPr sz="1000" b="1">
                          <a:solidFill>
                            <a:srgbClr val="34D399"/>
                          </a:solidFill>
                        </a:defRPr>
                      </a:pPr>
                      <a:r>
                        <a:t>100% (Deterministic Math)</a:t>
                      </a:r>
                    </a:p>
                  </a:txBody>
                  <a:tcPr>
                    <a:solidFill>
                      <a:srgbClr val="121926"/>
                    </a:solidFill>
                  </a:tcPr>
                </a:tc>
              </a:tr>
              <a:tr h="548640">
                <a:tc>
                  <a:txBody>
                    <a:bodyPr/>
                    <a:lstStyle/>
                    <a:p>
                      <a:pPr algn="l">
                        <a:defRPr sz="1000">
                          <a:solidFill>
                            <a:srgbClr val="E2E8F0"/>
                          </a:solidFill>
                        </a:defRPr>
                      </a:pPr>
                      <a:r>
                        <a:t>Spatial Overlap Detection</a:t>
                      </a:r>
                    </a:p>
                  </a:txBody>
                  <a:tcPr>
                    <a:solidFill>
                      <a:srgbClr val="18202F"/>
                    </a:solidFill>
                  </a:tcPr>
                </a:tc>
                <a:tc>
                  <a:txBody>
                    <a:bodyPr/>
                    <a:lstStyle/>
                    <a:p>
                      <a:pPr algn="ctr">
                        <a:defRPr sz="1000">
                          <a:solidFill>
                            <a:srgbClr val="E2E8F0"/>
                          </a:solidFill>
                        </a:defRPr>
                      </a:pPr>
                      <a:r>
                        <a:t>0.0% (Blind to pixels)</a:t>
                      </a:r>
                    </a:p>
                  </a:txBody>
                  <a:tcPr>
                    <a:solidFill>
                      <a:srgbClr val="18202F"/>
                    </a:solidFill>
                  </a:tcPr>
                </a:tc>
                <a:tc>
                  <a:txBody>
                    <a:bodyPr/>
                    <a:lstStyle/>
                    <a:p>
                      <a:pPr algn="ctr">
                        <a:defRPr sz="1000">
                          <a:solidFill>
                            <a:srgbClr val="E2E8F0"/>
                          </a:solidFill>
                        </a:defRPr>
                      </a:pPr>
                      <a:r>
                        <a:t>0.0% (Blind to pixels)</a:t>
                      </a:r>
                    </a:p>
                  </a:txBody>
                  <a:tcPr>
                    <a:solidFill>
                      <a:srgbClr val="18202F"/>
                    </a:solidFill>
                  </a:tcPr>
                </a:tc>
                <a:tc>
                  <a:txBody>
                    <a:bodyPr/>
                    <a:lstStyle/>
                    <a:p>
                      <a:pPr algn="ctr">
                        <a:defRPr sz="1000">
                          <a:solidFill>
                            <a:srgbClr val="E2E8F0"/>
                          </a:solidFill>
                        </a:defRPr>
                      </a:pPr>
                      <a:r>
                        <a:t>71.5% (Vague selectors)</a:t>
                      </a:r>
                    </a:p>
                  </a:txBody>
                  <a:tcPr>
                    <a:solidFill>
                      <a:srgbClr val="18202F"/>
                    </a:solidFill>
                  </a:tcPr>
                </a:tc>
                <a:tc>
                  <a:txBody>
                    <a:bodyPr/>
                    <a:lstStyle/>
                    <a:p>
                      <a:pPr algn="ctr">
                        <a:defRPr sz="1000" b="1">
                          <a:solidFill>
                            <a:srgbClr val="34D399"/>
                          </a:solidFill>
                        </a:defRPr>
                      </a:pPr>
                      <a:r>
                        <a:t>94.8% (Multimodal VLM)</a:t>
                      </a:r>
                    </a:p>
                  </a:txBody>
                  <a:tcPr>
                    <a:solidFill>
                      <a:srgbClr val="18202F"/>
                    </a:solidFill>
                  </a:tcPr>
                </a:tc>
              </a:tr>
              <a:tr h="548640">
                <a:tc>
                  <a:txBody>
                    <a:bodyPr/>
                    <a:lstStyle/>
                    <a:p>
                      <a:pPr algn="l">
                        <a:defRPr sz="1000">
                          <a:solidFill>
                            <a:srgbClr val="E2E8F0"/>
                          </a:solidFill>
                        </a:defRPr>
                      </a:pPr>
                      <a:r>
                        <a:t>Autonomous Patch Synthesis</a:t>
                      </a:r>
                    </a:p>
                  </a:txBody>
                  <a:tcPr>
                    <a:solidFill>
                      <a:srgbClr val="121926"/>
                    </a:solidFill>
                  </a:tcPr>
                </a:tc>
                <a:tc>
                  <a:txBody>
                    <a:bodyPr/>
                    <a:lstStyle/>
                    <a:p>
                      <a:pPr algn="ctr">
                        <a:defRPr sz="1000">
                          <a:solidFill>
                            <a:srgbClr val="E2E8F0"/>
                          </a:solidFill>
                        </a:defRPr>
                      </a:pPr>
                      <a:r>
                        <a:t>None (Detection only)</a:t>
                      </a:r>
                    </a:p>
                  </a:txBody>
                  <a:tcPr>
                    <a:solidFill>
                      <a:srgbClr val="121926"/>
                    </a:solidFill>
                  </a:tcPr>
                </a:tc>
                <a:tc>
                  <a:txBody>
                    <a:bodyPr/>
                    <a:lstStyle/>
                    <a:p>
                      <a:pPr algn="ctr">
                        <a:defRPr sz="1000">
                          <a:solidFill>
                            <a:srgbClr val="E2E8F0"/>
                          </a:solidFill>
                        </a:defRPr>
                      </a:pPr>
                      <a:r>
                        <a:t>None (Detection only)</a:t>
                      </a:r>
                    </a:p>
                  </a:txBody>
                  <a:tcPr>
                    <a:solidFill>
                      <a:srgbClr val="121926"/>
                    </a:solidFill>
                  </a:tcPr>
                </a:tc>
                <a:tc>
                  <a:txBody>
                    <a:bodyPr/>
                    <a:lstStyle/>
                    <a:p>
                      <a:pPr algn="ctr">
                        <a:defRPr sz="1000">
                          <a:solidFill>
                            <a:srgbClr val="E2E8F0"/>
                          </a:solidFill>
                        </a:defRPr>
                      </a:pPr>
                      <a:r>
                        <a:t>54.2% (Frequently breaks CSS)</a:t>
                      </a:r>
                    </a:p>
                  </a:txBody>
                  <a:tcPr>
                    <a:solidFill>
                      <a:srgbClr val="121926"/>
                    </a:solidFill>
                  </a:tcPr>
                </a:tc>
                <a:tc>
                  <a:txBody>
                    <a:bodyPr/>
                    <a:lstStyle/>
                    <a:p>
                      <a:pPr algn="ctr">
                        <a:defRPr sz="1000" b="1">
                          <a:solidFill>
                            <a:srgbClr val="34D399"/>
                          </a:solidFill>
                        </a:defRPr>
                      </a:pPr>
                      <a:r>
                        <a:t>99.1% (Reflection Sandbox)</a:t>
                      </a:r>
                    </a:p>
                  </a:txBody>
                  <a:tcPr>
                    <a:solidFill>
                      <a:srgbClr val="121926"/>
                    </a:solidFill>
                  </a:tcPr>
                </a:tc>
              </a:tr>
              <a:tr h="548640">
                <a:tc>
                  <a:txBody>
                    <a:bodyPr/>
                    <a:lstStyle/>
                    <a:p>
                      <a:pPr algn="l">
                        <a:defRPr sz="1000">
                          <a:solidFill>
                            <a:srgbClr val="E2E8F0"/>
                          </a:solidFill>
                        </a:defRPr>
                      </a:pPr>
                      <a:r>
                        <a:t>False Positive Rate</a:t>
                      </a:r>
                    </a:p>
                  </a:txBody>
                  <a:tcPr>
                    <a:solidFill>
                      <a:srgbClr val="18202F"/>
                    </a:solidFill>
                  </a:tcPr>
                </a:tc>
                <a:tc>
                  <a:txBody>
                    <a:bodyPr/>
                    <a:lstStyle/>
                    <a:p>
                      <a:pPr algn="ctr">
                        <a:defRPr sz="1000">
                          <a:solidFill>
                            <a:srgbClr val="E2E8F0"/>
                          </a:solidFill>
                        </a:defRPr>
                      </a:pPr>
                      <a:r>
                        <a:t>18.2%</a:t>
                      </a:r>
                    </a:p>
                  </a:txBody>
                  <a:tcPr>
                    <a:solidFill>
                      <a:srgbClr val="18202F"/>
                    </a:solidFill>
                  </a:tcPr>
                </a:tc>
                <a:tc>
                  <a:txBody>
                    <a:bodyPr/>
                    <a:lstStyle/>
                    <a:p>
                      <a:pPr algn="ctr">
                        <a:defRPr sz="1000">
                          <a:solidFill>
                            <a:srgbClr val="E2E8F0"/>
                          </a:solidFill>
                        </a:defRPr>
                      </a:pPr>
                      <a:r>
                        <a:t>14.5%</a:t>
                      </a:r>
                    </a:p>
                  </a:txBody>
                  <a:tcPr>
                    <a:solidFill>
                      <a:srgbClr val="18202F"/>
                    </a:solidFill>
                  </a:tcPr>
                </a:tc>
                <a:tc>
                  <a:txBody>
                    <a:bodyPr/>
                    <a:lstStyle/>
                    <a:p>
                      <a:pPr algn="ctr">
                        <a:defRPr sz="1000">
                          <a:solidFill>
                            <a:srgbClr val="E2E8F0"/>
                          </a:solidFill>
                        </a:defRPr>
                      </a:pPr>
                      <a:r>
                        <a:t>34.0%</a:t>
                      </a:r>
                    </a:p>
                  </a:txBody>
                  <a:tcPr>
                    <a:solidFill>
                      <a:srgbClr val="18202F"/>
                    </a:solidFill>
                  </a:tcPr>
                </a:tc>
                <a:tc>
                  <a:txBody>
                    <a:bodyPr/>
                    <a:lstStyle/>
                    <a:p>
                      <a:pPr algn="ctr">
                        <a:defRPr sz="1000" b="1">
                          <a:solidFill>
                            <a:srgbClr val="34D399"/>
                          </a:solidFill>
                        </a:defRPr>
                      </a:pPr>
                      <a:r>
                        <a:t>&lt; 2.5% (Neuro-Symbolic Gate)</a:t>
                      </a:r>
                    </a:p>
                  </a:txBody>
                  <a:tcPr>
                    <a:solidFill>
                      <a:srgbClr val="18202F"/>
                    </a:solidFill>
                  </a:tcPr>
                </a:tc>
              </a:tr>
              <a:tr h="548640">
                <a:tc>
                  <a:txBody>
                    <a:bodyPr/>
                    <a:lstStyle/>
                    <a:p>
                      <a:pPr algn="l">
                        <a:defRPr sz="1000">
                          <a:solidFill>
                            <a:srgbClr val="E2E8F0"/>
                          </a:solidFill>
                        </a:defRPr>
                      </a:pPr>
                      <a:r>
                        <a:t>Shift-Left Mockup Auditing</a:t>
                      </a:r>
                    </a:p>
                  </a:txBody>
                  <a:tcPr>
                    <a:solidFill>
                      <a:srgbClr val="121926"/>
                    </a:solidFill>
                  </a:tcPr>
                </a:tc>
                <a:tc>
                  <a:txBody>
                    <a:bodyPr/>
                    <a:lstStyle/>
                    <a:p>
                      <a:pPr algn="ctr">
                        <a:defRPr sz="1000">
                          <a:solidFill>
                            <a:srgbClr val="E2E8F0"/>
                          </a:solidFill>
                        </a:defRPr>
                      </a:pPr>
                      <a:r>
                        <a:t>Unsupported</a:t>
                      </a:r>
                    </a:p>
                  </a:txBody>
                  <a:tcPr>
                    <a:solidFill>
                      <a:srgbClr val="121926"/>
                    </a:solidFill>
                  </a:tcPr>
                </a:tc>
                <a:tc>
                  <a:txBody>
                    <a:bodyPr/>
                    <a:lstStyle/>
                    <a:p>
                      <a:pPr algn="ctr">
                        <a:defRPr sz="1000">
                          <a:solidFill>
                            <a:srgbClr val="E2E8F0"/>
                          </a:solidFill>
                        </a:defRPr>
                      </a:pPr>
                      <a:r>
                        <a:t>Unsupported</a:t>
                      </a:r>
                    </a:p>
                  </a:txBody>
                  <a:tcPr>
                    <a:solidFill>
                      <a:srgbClr val="121926"/>
                    </a:solidFill>
                  </a:tcPr>
                </a:tc>
                <a:tc>
                  <a:txBody>
                    <a:bodyPr/>
                    <a:lstStyle/>
                    <a:p>
                      <a:pPr algn="ctr">
                        <a:defRPr sz="1000">
                          <a:solidFill>
                            <a:srgbClr val="E2E8F0"/>
                          </a:solidFill>
                        </a:defRPr>
                      </a:pPr>
                      <a:r>
                        <a:t>Poor formatting</a:t>
                      </a:r>
                    </a:p>
                  </a:txBody>
                  <a:tcPr>
                    <a:solidFill>
                      <a:srgbClr val="121926"/>
                    </a:solidFill>
                  </a:tcPr>
                </a:tc>
                <a:tc>
                  <a:txBody>
                    <a:bodyPr/>
                    <a:lstStyle/>
                    <a:p>
                      <a:pPr algn="ctr">
                        <a:defRPr sz="1000" b="1">
                          <a:solidFill>
                            <a:srgbClr val="34D399"/>
                          </a:solidFill>
                        </a:defRPr>
                      </a:pPr>
                      <a:r>
                        <a:t>Full Support (Screenshot Lab)</a:t>
                      </a:r>
                    </a:p>
                  </a:txBody>
                  <a:tcPr>
                    <a:solidFill>
                      <a:srgbClr val="121926"/>
                    </a:solidFill>
                  </a:tcPr>
                </a:tc>
              </a:tr>
            </a:tbl>
          </a:graphicData>
        </a:graphic>
      </p:graphicFrame>
      <p:sp>
        <p:nvSpPr>
          <p:cNvPr id="7" name="Rounded Rectangle 6"/>
          <p:cNvSpPr/>
          <p:nvPr/>
        </p:nvSpPr>
        <p:spPr>
          <a:xfrm>
            <a:off x="731520" y="5120640"/>
            <a:ext cx="10728655" cy="118872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5303520"/>
            <a:ext cx="10271455" cy="365760"/>
          </a:xfrm>
          <a:prstGeom prst="rect">
            <a:avLst/>
          </a:prstGeom>
          <a:noFill/>
        </p:spPr>
        <p:txBody>
          <a:bodyPr wrap="square" lIns="0" tIns="0" rIns="0" bIns="0">
            <a:spAutoFit/>
          </a:bodyPr>
          <a:lstStyle/>
          <a:p>
            <a:pPr>
              <a:defRPr sz="1300" b="1">
                <a:solidFill>
                  <a:srgbClr val="FBBF24"/>
                </a:solidFill>
              </a:defRPr>
            </a:pPr>
            <a:r>
              <a:t>EMPIRICAL EVALUATION VERDICT</a:t>
            </a:r>
          </a:p>
        </p:txBody>
      </p:sp>
      <p:sp>
        <p:nvSpPr>
          <p:cNvPr id="9" name="TextBox 8"/>
          <p:cNvSpPr txBox="1"/>
          <p:nvPr/>
        </p:nvSpPr>
        <p:spPr>
          <a:xfrm>
            <a:off x="960120" y="5532120"/>
            <a:ext cx="10241280" cy="685800"/>
          </a:xfrm>
          <a:prstGeom prst="rect">
            <a:avLst/>
          </a:prstGeom>
          <a:noFill/>
        </p:spPr>
        <p:txBody>
          <a:bodyPr wrap="none">
            <a:spAutoFit/>
          </a:bodyPr>
          <a:lstStyle/>
          <a:p>
            <a:pPr>
              <a:defRPr sz="1050">
                <a:solidFill>
                  <a:srgbClr val="E2E8F0"/>
                </a:solidFill>
              </a:defRPr>
            </a:pPr>
            <a:r>
              <a:t>1. Traditional tools (Axe, Lighthouse) only detect static DOM attributes and cannot see visual layout collisions.</a:t>
            </a:r>
          </a:p>
          <a:p>
            <a:pPr>
              <a:defRPr sz="1050" b="1">
                <a:solidFill>
                  <a:srgbClr val="38BDF8"/>
                </a:solidFill>
              </a:defRPr>
            </a:pPr>
            <a:r>
              <a:t>2. Raw LLMs hallucinate color math and output untested CSS. VisionGuard's Neuro-Symbolic Sandbox achieves 99.1% verified patch accuracy.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38BDF8"/>
                </a:solidFill>
              </a:defRPr>
            </a:pPr>
            <a:r>
              <a:t>11 / CONCLUSION &amp; DEPLOYMENT</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FFFFF"/>
                </a:solidFill>
              </a:defRPr>
            </a:pPr>
            <a:r>
              <a:t>Cloud Deployment Architecture &amp; Future Research Roadmap</a:t>
            </a:r>
          </a:p>
        </p:txBody>
      </p:sp>
      <p:sp>
        <p:nvSpPr>
          <p:cNvPr id="5" name="TextBox 4"/>
          <p:cNvSpPr txBox="1"/>
          <p:nvPr/>
        </p:nvSpPr>
        <p:spPr>
          <a:xfrm>
            <a:off x="731520" y="1188720"/>
            <a:ext cx="10728655" cy="320040"/>
          </a:xfrm>
          <a:prstGeom prst="rect">
            <a:avLst/>
          </a:prstGeom>
          <a:noFill/>
        </p:spPr>
        <p:txBody>
          <a:bodyPr wrap="square" lIns="0" tIns="0" rIns="0" bIns="0">
            <a:spAutoFit/>
          </a:bodyPr>
          <a:lstStyle/>
          <a:p>
            <a:pPr>
              <a:defRPr sz="1100">
                <a:solidFill>
                  <a:srgbClr val="94A3B8"/>
                </a:solidFill>
              </a:defRPr>
            </a:pPr>
            <a:r>
              <a:t>100% live cloud deployment, enterprise DevSecOps readiness, and transition to live demonstration.</a:t>
            </a:r>
          </a:p>
        </p:txBody>
      </p:sp>
      <p:sp>
        <p:nvSpPr>
          <p:cNvPr id="6" name="Rounded Rectangle 5"/>
          <p:cNvSpPr/>
          <p:nvPr/>
        </p:nvSpPr>
        <p:spPr>
          <a:xfrm>
            <a:off x="731520" y="1645920"/>
            <a:ext cx="5254142" cy="393192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796942" cy="365760"/>
          </a:xfrm>
          <a:prstGeom prst="rect">
            <a:avLst/>
          </a:prstGeom>
          <a:noFill/>
        </p:spPr>
        <p:txBody>
          <a:bodyPr wrap="square" lIns="0" tIns="0" rIns="0" bIns="0">
            <a:spAutoFit/>
          </a:bodyPr>
          <a:lstStyle/>
          <a:p>
            <a:pPr>
              <a:defRPr sz="1300" b="1">
                <a:solidFill>
                  <a:srgbClr val="38BDF8"/>
                </a:solidFill>
              </a:defRPr>
            </a:pPr>
            <a:r>
              <a:t>1. Live Cloud Production Deployment</a:t>
            </a:r>
          </a:p>
        </p:txBody>
      </p:sp>
      <p:sp>
        <p:nvSpPr>
          <p:cNvPr id="8" name="TextBox 7"/>
          <p:cNvSpPr txBox="1"/>
          <p:nvPr/>
        </p:nvSpPr>
        <p:spPr>
          <a:xfrm>
            <a:off x="960120" y="2194560"/>
            <a:ext cx="4796942" cy="3200400"/>
          </a:xfrm>
          <a:prstGeom prst="rect">
            <a:avLst/>
          </a:prstGeom>
          <a:noFill/>
        </p:spPr>
        <p:txBody>
          <a:bodyPr wrap="square">
            <a:spAutoFit/>
          </a:bodyPr>
          <a:lstStyle/>
          <a:p>
            <a:pPr>
              <a:defRPr sz="1100" b="1">
                <a:solidFill>
                  <a:srgbClr val="34D399"/>
                </a:solidFill>
              </a:defRPr>
            </a:pPr>
            <a:r>
              <a:t>Backend Web Service (Render Cloud):</a:t>
            </a:r>
          </a:p>
          <a:p>
            <a:pPr>
              <a:defRPr sz="1000">
                <a:solidFill>
                  <a:srgbClr val="E2E8F0"/>
                </a:solidFill>
              </a:defRPr>
            </a:pPr>
            <a:r>
              <a:t>• Containerized Docker environment running Python 3.10 + Playwright headless Chromium.</a:t>
            </a:r>
            <a:br/>
            <a:r>
              <a:t>• Live Endpoint: https://visionguard-ai-zmtz.onrender.com</a:t>
            </a:r>
          </a:p>
          <a:p>
            <a:pPr>
              <a:defRPr sz="1100" b="1">
                <a:solidFill>
                  <a:srgbClr val="34D399"/>
                </a:solidFill>
              </a:defRPr>
            </a:pPr>
            <a:r>
              <a:t>Frontend Command Center (Vercel Edge):</a:t>
            </a:r>
          </a:p>
          <a:p>
            <a:pPr>
              <a:defRPr sz="1000">
                <a:solidFill>
                  <a:srgbClr val="E2E8F0"/>
                </a:solidFill>
              </a:defRPr>
            </a:pPr>
            <a:r>
              <a:t>• Production React 18 SPA built with Vite and Tailwind CSS.</a:t>
            </a:r>
            <a:br/>
            <a:r>
              <a:t>• Live URL: https://visionguardaiautonomousagenticuiuxa.vercel.app</a:t>
            </a:r>
          </a:p>
          <a:p>
            <a:pPr>
              <a:defRPr sz="1100" b="1">
                <a:solidFill>
                  <a:srgbClr val="34D399"/>
                </a:solidFill>
              </a:defRPr>
            </a:pPr>
            <a:r>
              <a:t>Smart Environment Routing:</a:t>
            </a:r>
          </a:p>
          <a:p>
            <a:pPr>
              <a:defRPr sz="1000">
                <a:solidFill>
                  <a:srgbClr val="E2E8F0"/>
                </a:solidFill>
              </a:defRPr>
            </a:pPr>
            <a:r>
              <a:t>• Automatic detection of localhost:8001 vs live production Render URL with zero manual reconfiguration.</a:t>
            </a:r>
          </a:p>
        </p:txBody>
      </p:sp>
      <p:sp>
        <p:nvSpPr>
          <p:cNvPr id="9" name="Rounded Rectangle 8"/>
          <p:cNvSpPr/>
          <p:nvPr/>
        </p:nvSpPr>
        <p:spPr>
          <a:xfrm>
            <a:off x="6205118" y="1645920"/>
            <a:ext cx="5254142" cy="3931920"/>
          </a:xfrm>
          <a:prstGeom prst="roundRect">
            <a:avLst/>
          </a:prstGeom>
          <a:solidFill>
            <a:srgbClr val="18202F"/>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3718" y="1828800"/>
            <a:ext cx="4796942" cy="365760"/>
          </a:xfrm>
          <a:prstGeom prst="rect">
            <a:avLst/>
          </a:prstGeom>
          <a:noFill/>
        </p:spPr>
        <p:txBody>
          <a:bodyPr wrap="square" lIns="0" tIns="0" rIns="0" bIns="0">
            <a:spAutoFit/>
          </a:bodyPr>
          <a:lstStyle/>
          <a:p>
            <a:pPr>
              <a:defRPr sz="1300" b="1">
                <a:solidFill>
                  <a:srgbClr val="818CF8"/>
                </a:solidFill>
              </a:defRPr>
            </a:pPr>
            <a:r>
              <a:t>2. Future Research &amp; Engineering Scope</a:t>
            </a:r>
          </a:p>
        </p:txBody>
      </p:sp>
      <p:sp>
        <p:nvSpPr>
          <p:cNvPr id="11" name="TextBox 10"/>
          <p:cNvSpPr txBox="1"/>
          <p:nvPr/>
        </p:nvSpPr>
        <p:spPr>
          <a:xfrm>
            <a:off x="6433718" y="2194560"/>
            <a:ext cx="4796942" cy="3200400"/>
          </a:xfrm>
          <a:prstGeom prst="rect">
            <a:avLst/>
          </a:prstGeom>
          <a:noFill/>
        </p:spPr>
        <p:txBody>
          <a:bodyPr wrap="square">
            <a:spAutoFit/>
          </a:bodyPr>
          <a:lstStyle/>
          <a:p>
            <a:pPr>
              <a:defRPr sz="1100" b="1">
                <a:solidFill>
                  <a:srgbClr val="C084FC"/>
                </a:solidFill>
              </a:defRPr>
            </a:pPr>
            <a:r>
              <a:t>CI/CD GitHub Actions Integration:</a:t>
            </a:r>
          </a:p>
          <a:p>
            <a:pPr>
              <a:defRPr sz="1000">
                <a:solidFill>
                  <a:srgbClr val="E2E8F0"/>
                </a:solidFill>
              </a:defRPr>
            </a:pPr>
            <a:r>
              <a:t>• Deploying as a GitHub Bot that automatically audits visual diffs on Pull Requests and blocks accessibility regressions.</a:t>
            </a:r>
          </a:p>
          <a:p>
            <a:pPr>
              <a:defRPr sz="1100" b="1">
                <a:solidFill>
                  <a:srgbClr val="C084FC"/>
                </a:solidFill>
              </a:defRPr>
            </a:pPr>
            <a:r>
              <a:t>Dynamic WebGL Color Blindness Shaders:</a:t>
            </a:r>
          </a:p>
          <a:p>
            <a:pPr>
              <a:defRPr sz="1000">
                <a:solidFill>
                  <a:srgbClr val="E2E8F0"/>
                </a:solidFill>
              </a:defRPr>
            </a:pPr>
            <a:r>
              <a:t>• Real-time client-side simulation across all 8 CVD variants directly in the browser viewport.</a:t>
            </a:r>
          </a:p>
          <a:p>
            <a:pPr>
              <a:defRPr sz="1100" b="1">
                <a:solidFill>
                  <a:srgbClr val="C084FC"/>
                </a:solidFill>
              </a:defRPr>
            </a:pPr>
            <a:r>
              <a:t>Autonomous ARIA Tree Synthesis:</a:t>
            </a:r>
          </a:p>
          <a:p>
            <a:pPr>
              <a:defRPr sz="1000">
                <a:solidFill>
                  <a:srgbClr val="E2E8F0"/>
                </a:solidFill>
              </a:defRPr>
            </a:pPr>
            <a:r>
              <a:t>• Deep semantic neural synthesis generating complete accessible tree navigation for complex interactive widgets.</a:t>
            </a:r>
          </a:p>
        </p:txBody>
      </p:sp>
      <p:sp>
        <p:nvSpPr>
          <p:cNvPr id="12" name="Rounded Rectangle 11"/>
          <p:cNvSpPr/>
          <p:nvPr/>
        </p:nvSpPr>
        <p:spPr>
          <a:xfrm>
            <a:off x="731520" y="5715000"/>
            <a:ext cx="10728655" cy="777240"/>
          </a:xfrm>
          <a:prstGeom prst="roundRect">
            <a:avLst/>
          </a:prstGeom>
          <a:solidFill>
            <a:srgbClr val="1E1B4B"/>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806440"/>
            <a:ext cx="10241280" cy="594360"/>
          </a:xfrm>
          <a:prstGeom prst="rect">
            <a:avLst/>
          </a:prstGeom>
          <a:noFill/>
        </p:spPr>
        <p:txBody>
          <a:bodyPr wrap="none">
            <a:spAutoFit/>
          </a:bodyPr>
          <a:lstStyle/>
          <a:p>
            <a:pPr>
              <a:defRPr sz="1300" b="1">
                <a:solidFill>
                  <a:srgbClr val="FBBF24"/>
                </a:solidFill>
              </a:defRPr>
            </a:pPr>
            <a:r>
              <a:t>🚀 PROCEEDING TO LIVE SYSTEM DEMONSTRATION (5 MINUTES)</a:t>
            </a:r>
          </a:p>
          <a:p>
            <a:pPr>
              <a:defRPr sz="1050">
                <a:solidFill>
                  <a:srgbClr val="FFFFFF"/>
                </a:solidFill>
              </a:defRPr>
            </a:pPr>
            <a:r>
              <a:t>Audit Engine Live Run  ➔  Sandbox Hot-Patching  ➔  AI Vision Screenshot Lab Reconstruction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